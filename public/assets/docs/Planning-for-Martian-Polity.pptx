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wdp" ContentType="image/vnd.ms-photo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50" r:id="rId1"/>
  </p:sldMasterIdLst>
  <p:notesMasterIdLst>
    <p:notesMasterId r:id="rId33"/>
  </p:notesMasterIdLst>
  <p:sldIdLst>
    <p:sldId id="256" r:id="rId2"/>
    <p:sldId id="258" r:id="rId3"/>
    <p:sldId id="257" r:id="rId4"/>
    <p:sldId id="260" r:id="rId5"/>
    <p:sldId id="264" r:id="rId6"/>
    <p:sldId id="262" r:id="rId7"/>
    <p:sldId id="278" r:id="rId8"/>
    <p:sldId id="279" r:id="rId9"/>
    <p:sldId id="261" r:id="rId10"/>
    <p:sldId id="277" r:id="rId11"/>
    <p:sldId id="263" r:id="rId12"/>
    <p:sldId id="265" r:id="rId13"/>
    <p:sldId id="280" r:id="rId14"/>
    <p:sldId id="281" r:id="rId15"/>
    <p:sldId id="266" r:id="rId16"/>
    <p:sldId id="282" r:id="rId17"/>
    <p:sldId id="283" r:id="rId18"/>
    <p:sldId id="267" r:id="rId19"/>
    <p:sldId id="285" r:id="rId20"/>
    <p:sldId id="284" r:id="rId21"/>
    <p:sldId id="286" r:id="rId22"/>
    <p:sldId id="287" r:id="rId23"/>
    <p:sldId id="288" r:id="rId24"/>
    <p:sldId id="289" r:id="rId25"/>
    <p:sldId id="269" r:id="rId26"/>
    <p:sldId id="272" r:id="rId27"/>
    <p:sldId id="270" r:id="rId28"/>
    <p:sldId id="275" r:id="rId29"/>
    <p:sldId id="291" r:id="rId30"/>
    <p:sldId id="274" r:id="rId31"/>
    <p:sldId id="290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7EB62F0-79D1-864F-84C4-1B6DB95EAB0B}">
          <p14:sldIdLst>
            <p14:sldId id="256"/>
          </p14:sldIdLst>
        </p14:section>
        <p14:section name="Introduction" id="{8003B90C-EC9D-0645-9490-D3E480FD2EDD}">
          <p14:sldIdLst>
            <p14:sldId id="258"/>
            <p14:sldId id="257"/>
          </p14:sldIdLst>
        </p14:section>
        <p14:section name="Existing Frameworks" id="{FD815361-1B56-6145-AB8B-4DFCE9A47380}">
          <p14:sldIdLst>
            <p14:sldId id="260"/>
            <p14:sldId id="264"/>
            <p14:sldId id="262"/>
            <p14:sldId id="278"/>
            <p14:sldId id="279"/>
            <p14:sldId id="261"/>
            <p14:sldId id="277"/>
          </p14:sldIdLst>
        </p14:section>
        <p14:section name="Historical Analogues" id="{EFBB4604-369D-2F48-9304-41BAFA69850D}">
          <p14:sldIdLst>
            <p14:sldId id="263"/>
            <p14:sldId id="265"/>
            <p14:sldId id="280"/>
            <p14:sldId id="281"/>
            <p14:sldId id="266"/>
            <p14:sldId id="282"/>
            <p14:sldId id="283"/>
            <p14:sldId id="267"/>
            <p14:sldId id="285"/>
            <p14:sldId id="284"/>
          </p14:sldIdLst>
        </p14:section>
        <p14:section name="Layers of Government" id="{F16D9C40-E7D6-674E-96BD-044524A9E6D7}">
          <p14:sldIdLst>
            <p14:sldId id="286"/>
            <p14:sldId id="287"/>
            <p14:sldId id="288"/>
            <p14:sldId id="289"/>
          </p14:sldIdLst>
        </p14:section>
        <p14:section name="Applications to Colonization" id="{4F99B336-73AB-A94E-8565-E4E3D1BBCBBE}">
          <p14:sldIdLst>
            <p14:sldId id="269"/>
            <p14:sldId id="272"/>
            <p14:sldId id="270"/>
          </p14:sldIdLst>
        </p14:section>
        <p14:section name="Closing" id="{1FD71391-6694-224D-AD72-11368654EBAA}">
          <p14:sldIdLst>
            <p14:sldId id="275"/>
            <p14:sldId id="291"/>
            <p14:sldId id="274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60163"/>
  </p:normalViewPr>
  <p:slideViewPr>
    <p:cSldViewPr snapToGrid="0" snapToObjects="1">
      <p:cViewPr varScale="1">
        <p:scale>
          <a:sx n="74" d="100"/>
          <a:sy n="74" d="100"/>
        </p:scale>
        <p:origin x="1728" y="184"/>
      </p:cViewPr>
      <p:guideLst/>
    </p:cSldViewPr>
  </p:slideViewPr>
  <p:outlineViewPr>
    <p:cViewPr>
      <p:scale>
        <a:sx n="33" d="100"/>
        <a:sy n="33" d="100"/>
      </p:scale>
      <p:origin x="0" y="-170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B28527-88B5-5C4B-AF35-B9107D10888C}" type="doc">
      <dgm:prSet loTypeId="urn:microsoft.com/office/officeart/2005/8/layout/hierarchy3" loCatId="list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DDE9AC52-DA4E-864C-B88E-17D36B94A953}">
      <dgm:prSet phldrT="[Text]"/>
      <dgm:spPr/>
      <dgm:t>
        <a:bodyPr/>
        <a:lstStyle/>
        <a:p>
          <a:r>
            <a:rPr lang="en-US" dirty="0" smtClean="0"/>
            <a:t>Outer Space Treaty</a:t>
          </a:r>
          <a:endParaRPr lang="en-US" dirty="0"/>
        </a:p>
      </dgm:t>
    </dgm:pt>
    <dgm:pt modelId="{FC2EDB6A-AFB9-CC46-B90F-8888E46548D7}" type="parTrans" cxnId="{255F3EDC-119E-0C42-8F48-E2411F2B5A19}">
      <dgm:prSet/>
      <dgm:spPr/>
      <dgm:t>
        <a:bodyPr/>
        <a:lstStyle/>
        <a:p>
          <a:endParaRPr lang="en-US"/>
        </a:p>
      </dgm:t>
    </dgm:pt>
    <dgm:pt modelId="{7BDE66FC-78F5-A04F-A214-0F228433B32A}" type="sibTrans" cxnId="{255F3EDC-119E-0C42-8F48-E2411F2B5A19}">
      <dgm:prSet/>
      <dgm:spPr/>
      <dgm:t>
        <a:bodyPr/>
        <a:lstStyle/>
        <a:p>
          <a:endParaRPr lang="en-US"/>
        </a:p>
      </dgm:t>
    </dgm:pt>
    <dgm:pt modelId="{ED17A7DC-5183-8E41-863F-0EB3D8331C96}">
      <dgm:prSet phldrT="[Text]"/>
      <dgm:spPr/>
      <dgm:t>
        <a:bodyPr/>
        <a:lstStyle/>
        <a:p>
          <a:r>
            <a:rPr lang="en-US" dirty="0" smtClean="0"/>
            <a:t>Rescue Agreement</a:t>
          </a:r>
          <a:endParaRPr lang="en-US" dirty="0"/>
        </a:p>
      </dgm:t>
    </dgm:pt>
    <dgm:pt modelId="{DABB5786-624F-1047-B555-DCE4713E7D90}" type="parTrans" cxnId="{9C331AAE-3BA2-1B46-9EF2-541B937EE76D}">
      <dgm:prSet/>
      <dgm:spPr/>
      <dgm:t>
        <a:bodyPr/>
        <a:lstStyle/>
        <a:p>
          <a:endParaRPr lang="en-US"/>
        </a:p>
      </dgm:t>
    </dgm:pt>
    <dgm:pt modelId="{265C5843-06CB-E645-B8FE-F7B73E7B54A5}" type="sibTrans" cxnId="{9C331AAE-3BA2-1B46-9EF2-541B937EE76D}">
      <dgm:prSet/>
      <dgm:spPr/>
      <dgm:t>
        <a:bodyPr/>
        <a:lstStyle/>
        <a:p>
          <a:endParaRPr lang="en-US"/>
        </a:p>
      </dgm:t>
    </dgm:pt>
    <dgm:pt modelId="{5AD371CD-C8E5-2341-A7ED-FE6DD45E8DCC}">
      <dgm:prSet phldrT="[Text]"/>
      <dgm:spPr/>
      <dgm:t>
        <a:bodyPr/>
        <a:lstStyle/>
        <a:p>
          <a:r>
            <a:rPr lang="en-US" dirty="0" smtClean="0"/>
            <a:t>Registration Convention</a:t>
          </a:r>
          <a:endParaRPr lang="en-US" dirty="0"/>
        </a:p>
      </dgm:t>
    </dgm:pt>
    <dgm:pt modelId="{4A653881-F2DE-AD43-926B-091BBDC85160}" type="parTrans" cxnId="{604FE7EB-1AE2-104B-9C91-31173B498016}">
      <dgm:prSet/>
      <dgm:spPr/>
      <dgm:t>
        <a:bodyPr/>
        <a:lstStyle/>
        <a:p>
          <a:endParaRPr lang="en-US"/>
        </a:p>
      </dgm:t>
    </dgm:pt>
    <dgm:pt modelId="{26E00515-FD6C-4149-8CC0-F6265D8568BD}" type="sibTrans" cxnId="{604FE7EB-1AE2-104B-9C91-31173B498016}">
      <dgm:prSet/>
      <dgm:spPr/>
      <dgm:t>
        <a:bodyPr/>
        <a:lstStyle/>
        <a:p>
          <a:endParaRPr lang="en-US"/>
        </a:p>
      </dgm:t>
    </dgm:pt>
    <dgm:pt modelId="{DA03F63C-DC1D-C443-912C-F9820A9E57DE}">
      <dgm:prSet phldrT="[Text]"/>
      <dgm:spPr/>
      <dgm:t>
        <a:bodyPr/>
        <a:lstStyle/>
        <a:p>
          <a:r>
            <a:rPr lang="en-US" dirty="0" smtClean="0"/>
            <a:t>Moon Treaty</a:t>
          </a:r>
          <a:endParaRPr lang="en-US" dirty="0"/>
        </a:p>
      </dgm:t>
    </dgm:pt>
    <dgm:pt modelId="{998D2177-1223-244B-B727-44B50D1E0346}" type="parTrans" cxnId="{22B7622A-9566-9540-9881-FAEAD15447ED}">
      <dgm:prSet/>
      <dgm:spPr/>
      <dgm:t>
        <a:bodyPr/>
        <a:lstStyle/>
        <a:p>
          <a:endParaRPr lang="en-US"/>
        </a:p>
      </dgm:t>
    </dgm:pt>
    <dgm:pt modelId="{6B92B824-2B9D-8846-9CC8-B6ECD0782EE7}" type="sibTrans" cxnId="{22B7622A-9566-9540-9881-FAEAD15447ED}">
      <dgm:prSet/>
      <dgm:spPr/>
      <dgm:t>
        <a:bodyPr/>
        <a:lstStyle/>
        <a:p>
          <a:endParaRPr lang="en-US"/>
        </a:p>
      </dgm:t>
    </dgm:pt>
    <dgm:pt modelId="{2F0F412B-F885-5342-9A6A-857A4252F6B6}">
      <dgm:prSet phldrT="[Text]"/>
      <dgm:spPr/>
      <dgm:t>
        <a:bodyPr/>
        <a:lstStyle/>
        <a:p>
          <a:r>
            <a:rPr lang="en-US" dirty="0" smtClean="0"/>
            <a:t>Space Liability Convention</a:t>
          </a:r>
          <a:endParaRPr lang="en-US" dirty="0"/>
        </a:p>
      </dgm:t>
    </dgm:pt>
    <dgm:pt modelId="{F2461685-578D-D34E-BF2D-7AF6A6E17FE3}" type="parTrans" cxnId="{C50B453E-E6E0-9847-9087-3F90A374410A}">
      <dgm:prSet/>
      <dgm:spPr/>
      <dgm:t>
        <a:bodyPr/>
        <a:lstStyle/>
        <a:p>
          <a:endParaRPr lang="en-US"/>
        </a:p>
      </dgm:t>
    </dgm:pt>
    <dgm:pt modelId="{0714D73A-4808-E145-A630-EEBE9886FD42}" type="sibTrans" cxnId="{C50B453E-E6E0-9847-9087-3F90A374410A}">
      <dgm:prSet/>
      <dgm:spPr/>
      <dgm:t>
        <a:bodyPr/>
        <a:lstStyle/>
        <a:p>
          <a:endParaRPr lang="en-US"/>
        </a:p>
      </dgm:t>
    </dgm:pt>
    <dgm:pt modelId="{7DB80A69-2E2D-A145-9669-949A8E865E57}" type="pres">
      <dgm:prSet presAssocID="{92B28527-88B5-5C4B-AF35-B9107D10888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F99B81D8-75E3-7D40-A96F-B6151DB6AF7D}" type="pres">
      <dgm:prSet presAssocID="{DDE9AC52-DA4E-864C-B88E-17D36B94A953}" presName="root" presStyleCnt="0"/>
      <dgm:spPr/>
    </dgm:pt>
    <dgm:pt modelId="{5E4F2B3A-430E-0F49-A40F-C61CC0BAB475}" type="pres">
      <dgm:prSet presAssocID="{DDE9AC52-DA4E-864C-B88E-17D36B94A953}" presName="rootComposite" presStyleCnt="0"/>
      <dgm:spPr/>
    </dgm:pt>
    <dgm:pt modelId="{0E09FC67-B07A-8945-AB53-7A52CADB1577}" type="pres">
      <dgm:prSet presAssocID="{DDE9AC52-DA4E-864C-B88E-17D36B94A953}" presName="rootText" presStyleLbl="node1" presStyleIdx="0" presStyleCnt="2"/>
      <dgm:spPr/>
      <dgm:t>
        <a:bodyPr/>
        <a:lstStyle/>
        <a:p>
          <a:endParaRPr lang="en-US"/>
        </a:p>
      </dgm:t>
    </dgm:pt>
    <dgm:pt modelId="{89D99079-43E3-C049-ABAB-BE802CA77BFA}" type="pres">
      <dgm:prSet presAssocID="{DDE9AC52-DA4E-864C-B88E-17D36B94A953}" presName="rootConnector" presStyleLbl="node1" presStyleIdx="0" presStyleCnt="2"/>
      <dgm:spPr/>
      <dgm:t>
        <a:bodyPr/>
        <a:lstStyle/>
        <a:p>
          <a:endParaRPr lang="en-US"/>
        </a:p>
      </dgm:t>
    </dgm:pt>
    <dgm:pt modelId="{3519F411-5D65-FB4B-A8D8-300D7D984C50}" type="pres">
      <dgm:prSet presAssocID="{DDE9AC52-DA4E-864C-B88E-17D36B94A953}" presName="childShape" presStyleCnt="0"/>
      <dgm:spPr/>
    </dgm:pt>
    <dgm:pt modelId="{4A3A9011-15E6-DF49-9206-29742AD5C5FD}" type="pres">
      <dgm:prSet presAssocID="{F2461685-578D-D34E-BF2D-7AF6A6E17FE3}" presName="Name13" presStyleLbl="parChTrans1D2" presStyleIdx="0" presStyleCnt="3"/>
      <dgm:spPr/>
      <dgm:t>
        <a:bodyPr/>
        <a:lstStyle/>
        <a:p>
          <a:endParaRPr lang="en-US"/>
        </a:p>
      </dgm:t>
    </dgm:pt>
    <dgm:pt modelId="{82204442-54CA-C44C-A039-A63E7C500D7D}" type="pres">
      <dgm:prSet presAssocID="{2F0F412B-F885-5342-9A6A-857A4252F6B6}" presName="childText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4F56DF-273B-7549-8A75-ECD5A9141E33}" type="pres">
      <dgm:prSet presAssocID="{4A653881-F2DE-AD43-926B-091BBDC85160}" presName="Name13" presStyleLbl="parChTrans1D2" presStyleIdx="1" presStyleCnt="3"/>
      <dgm:spPr/>
      <dgm:t>
        <a:bodyPr/>
        <a:lstStyle/>
        <a:p>
          <a:endParaRPr lang="en-US"/>
        </a:p>
      </dgm:t>
    </dgm:pt>
    <dgm:pt modelId="{80D9D720-39AD-5646-B198-CA7BF14911AE}" type="pres">
      <dgm:prSet presAssocID="{5AD371CD-C8E5-2341-A7ED-FE6DD45E8DCC}" presName="childText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63535C-3F98-7A4A-B514-87240A7D7750}" type="pres">
      <dgm:prSet presAssocID="{DABB5786-624F-1047-B555-DCE4713E7D90}" presName="Name13" presStyleLbl="parChTrans1D2" presStyleIdx="2" presStyleCnt="3"/>
      <dgm:spPr/>
      <dgm:t>
        <a:bodyPr/>
        <a:lstStyle/>
        <a:p>
          <a:endParaRPr lang="en-US"/>
        </a:p>
      </dgm:t>
    </dgm:pt>
    <dgm:pt modelId="{8E4FDE3F-2928-D645-BB42-84FFE26BD1AB}" type="pres">
      <dgm:prSet presAssocID="{ED17A7DC-5183-8E41-863F-0EB3D8331C96}" presName="childText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E90074-DCB7-8E45-9E0F-0FA1EF81D921}" type="pres">
      <dgm:prSet presAssocID="{DA03F63C-DC1D-C443-912C-F9820A9E57DE}" presName="root" presStyleCnt="0"/>
      <dgm:spPr/>
    </dgm:pt>
    <dgm:pt modelId="{462A86D8-921B-3B4B-ABFE-70E7EFF485D8}" type="pres">
      <dgm:prSet presAssocID="{DA03F63C-DC1D-C443-912C-F9820A9E57DE}" presName="rootComposite" presStyleCnt="0"/>
      <dgm:spPr/>
    </dgm:pt>
    <dgm:pt modelId="{7C1813DC-E02A-4C43-AF7C-1DF77493F8B6}" type="pres">
      <dgm:prSet presAssocID="{DA03F63C-DC1D-C443-912C-F9820A9E57DE}" presName="rootText" presStyleLbl="node1" presStyleIdx="1" presStyleCnt="2"/>
      <dgm:spPr/>
      <dgm:t>
        <a:bodyPr/>
        <a:lstStyle/>
        <a:p>
          <a:endParaRPr lang="en-US"/>
        </a:p>
      </dgm:t>
    </dgm:pt>
    <dgm:pt modelId="{57D48E95-A251-9A46-BD10-D8C9C5E65DFA}" type="pres">
      <dgm:prSet presAssocID="{DA03F63C-DC1D-C443-912C-F9820A9E57DE}" presName="rootConnector" presStyleLbl="node1" presStyleIdx="1" presStyleCnt="2"/>
      <dgm:spPr/>
      <dgm:t>
        <a:bodyPr/>
        <a:lstStyle/>
        <a:p>
          <a:endParaRPr lang="en-US"/>
        </a:p>
      </dgm:t>
    </dgm:pt>
    <dgm:pt modelId="{65A8EEB7-FD27-C64C-A3D5-5B0B5B9FD030}" type="pres">
      <dgm:prSet presAssocID="{DA03F63C-DC1D-C443-912C-F9820A9E57DE}" presName="childShape" presStyleCnt="0"/>
      <dgm:spPr/>
    </dgm:pt>
  </dgm:ptLst>
  <dgm:cxnLst>
    <dgm:cxn modelId="{FB897740-B289-D647-A2B1-4ED78F240E0C}" type="presOf" srcId="{4A653881-F2DE-AD43-926B-091BBDC85160}" destId="{E24F56DF-273B-7549-8A75-ECD5A9141E33}" srcOrd="0" destOrd="0" presId="urn:microsoft.com/office/officeart/2005/8/layout/hierarchy3"/>
    <dgm:cxn modelId="{9B2051C9-1C3A-4D4A-BF20-072FDDD74336}" type="presOf" srcId="{DABB5786-624F-1047-B555-DCE4713E7D90}" destId="{6363535C-3F98-7A4A-B514-87240A7D7750}" srcOrd="0" destOrd="0" presId="urn:microsoft.com/office/officeart/2005/8/layout/hierarchy3"/>
    <dgm:cxn modelId="{24B5F3B6-7E2F-7240-9FF9-C6F5333648C0}" type="presOf" srcId="{ED17A7DC-5183-8E41-863F-0EB3D8331C96}" destId="{8E4FDE3F-2928-D645-BB42-84FFE26BD1AB}" srcOrd="0" destOrd="0" presId="urn:microsoft.com/office/officeart/2005/8/layout/hierarchy3"/>
    <dgm:cxn modelId="{22B7622A-9566-9540-9881-FAEAD15447ED}" srcId="{92B28527-88B5-5C4B-AF35-B9107D10888C}" destId="{DA03F63C-DC1D-C443-912C-F9820A9E57DE}" srcOrd="1" destOrd="0" parTransId="{998D2177-1223-244B-B727-44B50D1E0346}" sibTransId="{6B92B824-2B9D-8846-9CC8-B6ECD0782EE7}"/>
    <dgm:cxn modelId="{C22789D6-C960-8B40-B9D1-02A1F9D32798}" type="presOf" srcId="{DA03F63C-DC1D-C443-912C-F9820A9E57DE}" destId="{57D48E95-A251-9A46-BD10-D8C9C5E65DFA}" srcOrd="1" destOrd="0" presId="urn:microsoft.com/office/officeart/2005/8/layout/hierarchy3"/>
    <dgm:cxn modelId="{255F3EDC-119E-0C42-8F48-E2411F2B5A19}" srcId="{92B28527-88B5-5C4B-AF35-B9107D10888C}" destId="{DDE9AC52-DA4E-864C-B88E-17D36B94A953}" srcOrd="0" destOrd="0" parTransId="{FC2EDB6A-AFB9-CC46-B90F-8888E46548D7}" sibTransId="{7BDE66FC-78F5-A04F-A214-0F228433B32A}"/>
    <dgm:cxn modelId="{604FE7EB-1AE2-104B-9C91-31173B498016}" srcId="{DDE9AC52-DA4E-864C-B88E-17D36B94A953}" destId="{5AD371CD-C8E5-2341-A7ED-FE6DD45E8DCC}" srcOrd="1" destOrd="0" parTransId="{4A653881-F2DE-AD43-926B-091BBDC85160}" sibTransId="{26E00515-FD6C-4149-8CC0-F6265D8568BD}"/>
    <dgm:cxn modelId="{DCE74023-99C4-6945-8821-AA391384E9BD}" type="presOf" srcId="{92B28527-88B5-5C4B-AF35-B9107D10888C}" destId="{7DB80A69-2E2D-A145-9669-949A8E865E57}" srcOrd="0" destOrd="0" presId="urn:microsoft.com/office/officeart/2005/8/layout/hierarchy3"/>
    <dgm:cxn modelId="{64C324F0-481D-C84D-BC06-04128020A6FF}" type="presOf" srcId="{F2461685-578D-D34E-BF2D-7AF6A6E17FE3}" destId="{4A3A9011-15E6-DF49-9206-29742AD5C5FD}" srcOrd="0" destOrd="0" presId="urn:microsoft.com/office/officeart/2005/8/layout/hierarchy3"/>
    <dgm:cxn modelId="{9C331AAE-3BA2-1B46-9EF2-541B937EE76D}" srcId="{DDE9AC52-DA4E-864C-B88E-17D36B94A953}" destId="{ED17A7DC-5183-8E41-863F-0EB3D8331C96}" srcOrd="2" destOrd="0" parTransId="{DABB5786-624F-1047-B555-DCE4713E7D90}" sibTransId="{265C5843-06CB-E645-B8FE-F7B73E7B54A5}"/>
    <dgm:cxn modelId="{C50B453E-E6E0-9847-9087-3F90A374410A}" srcId="{DDE9AC52-DA4E-864C-B88E-17D36B94A953}" destId="{2F0F412B-F885-5342-9A6A-857A4252F6B6}" srcOrd="0" destOrd="0" parTransId="{F2461685-578D-D34E-BF2D-7AF6A6E17FE3}" sibTransId="{0714D73A-4808-E145-A630-EEBE9886FD42}"/>
    <dgm:cxn modelId="{EB83711C-54A8-8442-85E5-24BAFDF1D946}" type="presOf" srcId="{DDE9AC52-DA4E-864C-B88E-17D36B94A953}" destId="{0E09FC67-B07A-8945-AB53-7A52CADB1577}" srcOrd="0" destOrd="0" presId="urn:microsoft.com/office/officeart/2005/8/layout/hierarchy3"/>
    <dgm:cxn modelId="{258A6D2B-007E-7445-9822-F97CE71A7B5B}" type="presOf" srcId="{5AD371CD-C8E5-2341-A7ED-FE6DD45E8DCC}" destId="{80D9D720-39AD-5646-B198-CA7BF14911AE}" srcOrd="0" destOrd="0" presId="urn:microsoft.com/office/officeart/2005/8/layout/hierarchy3"/>
    <dgm:cxn modelId="{8BED9C7F-E744-4D43-BCD9-A5B0653F8447}" type="presOf" srcId="{DDE9AC52-DA4E-864C-B88E-17D36B94A953}" destId="{89D99079-43E3-C049-ABAB-BE802CA77BFA}" srcOrd="1" destOrd="0" presId="urn:microsoft.com/office/officeart/2005/8/layout/hierarchy3"/>
    <dgm:cxn modelId="{565C5CC6-BE6C-5247-A0C6-13B3966A6E2E}" type="presOf" srcId="{2F0F412B-F885-5342-9A6A-857A4252F6B6}" destId="{82204442-54CA-C44C-A039-A63E7C500D7D}" srcOrd="0" destOrd="0" presId="urn:microsoft.com/office/officeart/2005/8/layout/hierarchy3"/>
    <dgm:cxn modelId="{3C0B825A-1823-2349-B715-73407ADBED1E}" type="presOf" srcId="{DA03F63C-DC1D-C443-912C-F9820A9E57DE}" destId="{7C1813DC-E02A-4C43-AF7C-1DF77493F8B6}" srcOrd="0" destOrd="0" presId="urn:microsoft.com/office/officeart/2005/8/layout/hierarchy3"/>
    <dgm:cxn modelId="{6EF26656-79A9-134C-A6FD-5986983F4C7D}" type="presParOf" srcId="{7DB80A69-2E2D-A145-9669-949A8E865E57}" destId="{F99B81D8-75E3-7D40-A96F-B6151DB6AF7D}" srcOrd="0" destOrd="0" presId="urn:microsoft.com/office/officeart/2005/8/layout/hierarchy3"/>
    <dgm:cxn modelId="{55CA154C-6C53-884A-BF76-369DF7160AE9}" type="presParOf" srcId="{F99B81D8-75E3-7D40-A96F-B6151DB6AF7D}" destId="{5E4F2B3A-430E-0F49-A40F-C61CC0BAB475}" srcOrd="0" destOrd="0" presId="urn:microsoft.com/office/officeart/2005/8/layout/hierarchy3"/>
    <dgm:cxn modelId="{58187C98-DB5D-1546-A57F-34A1AA3F968E}" type="presParOf" srcId="{5E4F2B3A-430E-0F49-A40F-C61CC0BAB475}" destId="{0E09FC67-B07A-8945-AB53-7A52CADB1577}" srcOrd="0" destOrd="0" presId="urn:microsoft.com/office/officeart/2005/8/layout/hierarchy3"/>
    <dgm:cxn modelId="{6309174C-3313-0440-9939-8E609C18C502}" type="presParOf" srcId="{5E4F2B3A-430E-0F49-A40F-C61CC0BAB475}" destId="{89D99079-43E3-C049-ABAB-BE802CA77BFA}" srcOrd="1" destOrd="0" presId="urn:microsoft.com/office/officeart/2005/8/layout/hierarchy3"/>
    <dgm:cxn modelId="{309C5E02-FD5E-B449-98A9-927CC7778B6A}" type="presParOf" srcId="{F99B81D8-75E3-7D40-A96F-B6151DB6AF7D}" destId="{3519F411-5D65-FB4B-A8D8-300D7D984C50}" srcOrd="1" destOrd="0" presId="urn:microsoft.com/office/officeart/2005/8/layout/hierarchy3"/>
    <dgm:cxn modelId="{62FD7133-B8B8-3B4F-AB10-C95919A01A2B}" type="presParOf" srcId="{3519F411-5D65-FB4B-A8D8-300D7D984C50}" destId="{4A3A9011-15E6-DF49-9206-29742AD5C5FD}" srcOrd="0" destOrd="0" presId="urn:microsoft.com/office/officeart/2005/8/layout/hierarchy3"/>
    <dgm:cxn modelId="{D14CE765-2202-5E4C-AD0F-BCCBA7433984}" type="presParOf" srcId="{3519F411-5D65-FB4B-A8D8-300D7D984C50}" destId="{82204442-54CA-C44C-A039-A63E7C500D7D}" srcOrd="1" destOrd="0" presId="urn:microsoft.com/office/officeart/2005/8/layout/hierarchy3"/>
    <dgm:cxn modelId="{57DF41F5-45FA-7940-A0BA-7BB0E24C560C}" type="presParOf" srcId="{3519F411-5D65-FB4B-A8D8-300D7D984C50}" destId="{E24F56DF-273B-7549-8A75-ECD5A9141E33}" srcOrd="2" destOrd="0" presId="urn:microsoft.com/office/officeart/2005/8/layout/hierarchy3"/>
    <dgm:cxn modelId="{39F5407C-0D8B-814C-8D34-FF92F816410B}" type="presParOf" srcId="{3519F411-5D65-FB4B-A8D8-300D7D984C50}" destId="{80D9D720-39AD-5646-B198-CA7BF14911AE}" srcOrd="3" destOrd="0" presId="urn:microsoft.com/office/officeart/2005/8/layout/hierarchy3"/>
    <dgm:cxn modelId="{F185F1E6-77F0-1143-8C93-059C0D18603A}" type="presParOf" srcId="{3519F411-5D65-FB4B-A8D8-300D7D984C50}" destId="{6363535C-3F98-7A4A-B514-87240A7D7750}" srcOrd="4" destOrd="0" presId="urn:microsoft.com/office/officeart/2005/8/layout/hierarchy3"/>
    <dgm:cxn modelId="{8367D5B1-3438-6F4C-B66B-073C4831A865}" type="presParOf" srcId="{3519F411-5D65-FB4B-A8D8-300D7D984C50}" destId="{8E4FDE3F-2928-D645-BB42-84FFE26BD1AB}" srcOrd="5" destOrd="0" presId="urn:microsoft.com/office/officeart/2005/8/layout/hierarchy3"/>
    <dgm:cxn modelId="{04D4C76A-0451-0246-B115-B1CC1002C4A4}" type="presParOf" srcId="{7DB80A69-2E2D-A145-9669-949A8E865E57}" destId="{3FE90074-DCB7-8E45-9E0F-0FA1EF81D921}" srcOrd="1" destOrd="0" presId="urn:microsoft.com/office/officeart/2005/8/layout/hierarchy3"/>
    <dgm:cxn modelId="{0535F855-A917-8D41-B56C-AD0A9572557A}" type="presParOf" srcId="{3FE90074-DCB7-8E45-9E0F-0FA1EF81D921}" destId="{462A86D8-921B-3B4B-ABFE-70E7EFF485D8}" srcOrd="0" destOrd="0" presId="urn:microsoft.com/office/officeart/2005/8/layout/hierarchy3"/>
    <dgm:cxn modelId="{5A9119DA-5AA2-704E-BDB6-B9A32A078A89}" type="presParOf" srcId="{462A86D8-921B-3B4B-ABFE-70E7EFF485D8}" destId="{7C1813DC-E02A-4C43-AF7C-1DF77493F8B6}" srcOrd="0" destOrd="0" presId="urn:microsoft.com/office/officeart/2005/8/layout/hierarchy3"/>
    <dgm:cxn modelId="{7B41B1A8-AE31-B543-A682-0DB760956FB3}" type="presParOf" srcId="{462A86D8-921B-3B4B-ABFE-70E7EFF485D8}" destId="{57D48E95-A251-9A46-BD10-D8C9C5E65DFA}" srcOrd="1" destOrd="0" presId="urn:microsoft.com/office/officeart/2005/8/layout/hierarchy3"/>
    <dgm:cxn modelId="{7977EA99-E83E-364A-A137-16DF0A0ECE79}" type="presParOf" srcId="{3FE90074-DCB7-8E45-9E0F-0FA1EF81D921}" destId="{65A8EEB7-FD27-C64C-A3D5-5B0B5B9FD030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F0FE1C4-0F06-064F-91F2-9F6CA6DE722D}" type="doc">
      <dgm:prSet loTypeId="urn:microsoft.com/office/officeart/2005/8/layout/venn2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AD352CF-C7EE-D141-847C-5B882162EC52}">
      <dgm:prSet phldrT="[Text]"/>
      <dgm:spPr/>
      <dgm:t>
        <a:bodyPr/>
        <a:lstStyle/>
        <a:p>
          <a:r>
            <a:rPr lang="en-US" dirty="0" err="1" smtClean="0"/>
            <a:t>Supernational</a:t>
          </a:r>
          <a:endParaRPr lang="en-US" dirty="0"/>
        </a:p>
      </dgm:t>
    </dgm:pt>
    <dgm:pt modelId="{44B6B2F9-52C9-2849-851B-DB05E16CFF35}" type="parTrans" cxnId="{4FF7ECF8-BA47-1B4E-9995-9E661C3B6FE7}">
      <dgm:prSet/>
      <dgm:spPr/>
      <dgm:t>
        <a:bodyPr/>
        <a:lstStyle/>
        <a:p>
          <a:endParaRPr lang="en-US"/>
        </a:p>
      </dgm:t>
    </dgm:pt>
    <dgm:pt modelId="{DEB74626-D3E2-1D48-B738-DEE5B71C27B7}" type="sibTrans" cxnId="{4FF7ECF8-BA47-1B4E-9995-9E661C3B6FE7}">
      <dgm:prSet/>
      <dgm:spPr/>
      <dgm:t>
        <a:bodyPr/>
        <a:lstStyle/>
        <a:p>
          <a:endParaRPr lang="en-US"/>
        </a:p>
      </dgm:t>
    </dgm:pt>
    <dgm:pt modelId="{B9C5FDB5-96EF-434D-BC51-33C3212C8734}">
      <dgm:prSet phldrT="[Text]"/>
      <dgm:spPr/>
      <dgm:t>
        <a:bodyPr/>
        <a:lstStyle/>
        <a:p>
          <a:r>
            <a:rPr lang="en-US" dirty="0" smtClean="0"/>
            <a:t>National</a:t>
          </a:r>
          <a:endParaRPr lang="en-US" dirty="0"/>
        </a:p>
      </dgm:t>
    </dgm:pt>
    <dgm:pt modelId="{E58B2D91-F450-C74F-83E6-543105F9B27B}" type="parTrans" cxnId="{27C9F541-7378-F844-AB20-C49DB80F428E}">
      <dgm:prSet/>
      <dgm:spPr/>
      <dgm:t>
        <a:bodyPr/>
        <a:lstStyle/>
        <a:p>
          <a:endParaRPr lang="en-US"/>
        </a:p>
      </dgm:t>
    </dgm:pt>
    <dgm:pt modelId="{6B18190A-4F70-9E48-9FB2-77431C1EAF6A}" type="sibTrans" cxnId="{27C9F541-7378-F844-AB20-C49DB80F428E}">
      <dgm:prSet/>
      <dgm:spPr/>
      <dgm:t>
        <a:bodyPr/>
        <a:lstStyle/>
        <a:p>
          <a:endParaRPr lang="en-US"/>
        </a:p>
      </dgm:t>
    </dgm:pt>
    <dgm:pt modelId="{8EB1CFEB-3A62-E548-897B-BA4C86329710}">
      <dgm:prSet phldrT="[Text]"/>
      <dgm:spPr/>
      <dgm:t>
        <a:bodyPr/>
        <a:lstStyle/>
        <a:p>
          <a:r>
            <a:rPr lang="en-US" dirty="0" smtClean="0"/>
            <a:t>State</a:t>
          </a:r>
          <a:endParaRPr lang="en-US" dirty="0"/>
        </a:p>
      </dgm:t>
    </dgm:pt>
    <dgm:pt modelId="{AFCEC67F-37B9-4F40-BAAC-9586766447BA}" type="parTrans" cxnId="{7150EA7E-20B1-3840-A53D-64AA42284E38}">
      <dgm:prSet/>
      <dgm:spPr/>
      <dgm:t>
        <a:bodyPr/>
        <a:lstStyle/>
        <a:p>
          <a:endParaRPr lang="en-US"/>
        </a:p>
      </dgm:t>
    </dgm:pt>
    <dgm:pt modelId="{DEF95840-34F9-314C-A35D-E6B7412800B9}" type="sibTrans" cxnId="{7150EA7E-20B1-3840-A53D-64AA42284E38}">
      <dgm:prSet/>
      <dgm:spPr/>
      <dgm:t>
        <a:bodyPr/>
        <a:lstStyle/>
        <a:p>
          <a:endParaRPr lang="en-US"/>
        </a:p>
      </dgm:t>
    </dgm:pt>
    <dgm:pt modelId="{8F1E7A6D-DA92-7D4B-B0EA-50864B436B00}">
      <dgm:prSet phldrT="[Text]"/>
      <dgm:spPr/>
      <dgm:t>
        <a:bodyPr/>
        <a:lstStyle/>
        <a:p>
          <a:r>
            <a:rPr lang="en-US" dirty="0" smtClean="0"/>
            <a:t>Local</a:t>
          </a:r>
          <a:endParaRPr lang="en-US" dirty="0"/>
        </a:p>
      </dgm:t>
    </dgm:pt>
    <dgm:pt modelId="{149BFFD6-CAA4-9644-8CAC-A671EE900E5D}" type="parTrans" cxnId="{DDD5DE16-9457-5D41-BC7C-0918289082EF}">
      <dgm:prSet/>
      <dgm:spPr/>
      <dgm:t>
        <a:bodyPr/>
        <a:lstStyle/>
        <a:p>
          <a:endParaRPr lang="en-US"/>
        </a:p>
      </dgm:t>
    </dgm:pt>
    <dgm:pt modelId="{00285372-D714-D04A-B66E-B82E1F2113E5}" type="sibTrans" cxnId="{DDD5DE16-9457-5D41-BC7C-0918289082EF}">
      <dgm:prSet/>
      <dgm:spPr/>
      <dgm:t>
        <a:bodyPr/>
        <a:lstStyle/>
        <a:p>
          <a:endParaRPr lang="en-US"/>
        </a:p>
      </dgm:t>
    </dgm:pt>
    <dgm:pt modelId="{CEF5ABC5-C129-9D47-8EEF-3267FFA2291C}" type="pres">
      <dgm:prSet presAssocID="{1F0FE1C4-0F06-064F-91F2-9F6CA6DE722D}" presName="Name0" presStyleCnt="0">
        <dgm:presLayoutVars>
          <dgm:chMax val="7"/>
          <dgm:resizeHandles val="exact"/>
        </dgm:presLayoutVars>
      </dgm:prSet>
      <dgm:spPr/>
    </dgm:pt>
    <dgm:pt modelId="{CE21C589-0B42-AE40-A11F-ADA3A4907831}" type="pres">
      <dgm:prSet presAssocID="{1F0FE1C4-0F06-064F-91F2-9F6CA6DE722D}" presName="comp1" presStyleCnt="0"/>
      <dgm:spPr/>
    </dgm:pt>
    <dgm:pt modelId="{2BA98C9A-5D19-E446-BF83-504809BCD462}" type="pres">
      <dgm:prSet presAssocID="{1F0FE1C4-0F06-064F-91F2-9F6CA6DE722D}" presName="circle1" presStyleLbl="node1" presStyleIdx="0" presStyleCnt="4"/>
      <dgm:spPr/>
    </dgm:pt>
    <dgm:pt modelId="{1EE419B4-0767-9C4B-A2CC-D2BF8E7537B1}" type="pres">
      <dgm:prSet presAssocID="{1F0FE1C4-0F06-064F-91F2-9F6CA6DE722D}" presName="c1text" presStyleLbl="node1" presStyleIdx="0" presStyleCnt="4">
        <dgm:presLayoutVars>
          <dgm:bulletEnabled val="1"/>
        </dgm:presLayoutVars>
      </dgm:prSet>
      <dgm:spPr/>
    </dgm:pt>
    <dgm:pt modelId="{4418DD84-FF7C-A240-8749-EA372C0179A6}" type="pres">
      <dgm:prSet presAssocID="{1F0FE1C4-0F06-064F-91F2-9F6CA6DE722D}" presName="comp2" presStyleCnt="0"/>
      <dgm:spPr/>
    </dgm:pt>
    <dgm:pt modelId="{5F7B043E-AE7F-674C-9B51-920D8D33D9AA}" type="pres">
      <dgm:prSet presAssocID="{1F0FE1C4-0F06-064F-91F2-9F6CA6DE722D}" presName="circle2" presStyleLbl="node1" presStyleIdx="1" presStyleCnt="4"/>
      <dgm:spPr/>
    </dgm:pt>
    <dgm:pt modelId="{1C9B7ADB-E6E7-BD48-954A-6205A5C39D9D}" type="pres">
      <dgm:prSet presAssocID="{1F0FE1C4-0F06-064F-91F2-9F6CA6DE722D}" presName="c2text" presStyleLbl="node1" presStyleIdx="1" presStyleCnt="4">
        <dgm:presLayoutVars>
          <dgm:bulletEnabled val="1"/>
        </dgm:presLayoutVars>
      </dgm:prSet>
      <dgm:spPr/>
    </dgm:pt>
    <dgm:pt modelId="{3D9990C0-58A0-8845-A122-A91B82A5566C}" type="pres">
      <dgm:prSet presAssocID="{1F0FE1C4-0F06-064F-91F2-9F6CA6DE722D}" presName="comp3" presStyleCnt="0"/>
      <dgm:spPr/>
    </dgm:pt>
    <dgm:pt modelId="{DBA7B04C-E075-7E41-8C69-CBB05D2282A4}" type="pres">
      <dgm:prSet presAssocID="{1F0FE1C4-0F06-064F-91F2-9F6CA6DE722D}" presName="circle3" presStyleLbl="node1" presStyleIdx="2" presStyleCnt="4"/>
      <dgm:spPr/>
    </dgm:pt>
    <dgm:pt modelId="{FAA4D520-7723-8347-9ACA-8EFA2B1F0DB2}" type="pres">
      <dgm:prSet presAssocID="{1F0FE1C4-0F06-064F-91F2-9F6CA6DE722D}" presName="c3text" presStyleLbl="node1" presStyleIdx="2" presStyleCnt="4">
        <dgm:presLayoutVars>
          <dgm:bulletEnabled val="1"/>
        </dgm:presLayoutVars>
      </dgm:prSet>
      <dgm:spPr/>
    </dgm:pt>
    <dgm:pt modelId="{FEA43F79-67AF-4042-BD4A-CE6585C78D2D}" type="pres">
      <dgm:prSet presAssocID="{1F0FE1C4-0F06-064F-91F2-9F6CA6DE722D}" presName="comp4" presStyleCnt="0"/>
      <dgm:spPr/>
    </dgm:pt>
    <dgm:pt modelId="{E7A0E190-DE79-5A44-98B2-D1AC437A397E}" type="pres">
      <dgm:prSet presAssocID="{1F0FE1C4-0F06-064F-91F2-9F6CA6DE722D}" presName="circle4" presStyleLbl="node1" presStyleIdx="3" presStyleCnt="4"/>
      <dgm:spPr/>
    </dgm:pt>
    <dgm:pt modelId="{5BDDF284-49EE-654F-9FBB-7597B28874F7}" type="pres">
      <dgm:prSet presAssocID="{1F0FE1C4-0F06-064F-91F2-9F6CA6DE722D}" presName="c4text" presStyleLbl="node1" presStyleIdx="3" presStyleCnt="4">
        <dgm:presLayoutVars>
          <dgm:bulletEnabled val="1"/>
        </dgm:presLayoutVars>
      </dgm:prSet>
      <dgm:spPr/>
    </dgm:pt>
  </dgm:ptLst>
  <dgm:cxnLst>
    <dgm:cxn modelId="{BFD3F840-277B-FF43-8FE8-BECE61A45CA8}" type="presOf" srcId="{1F0FE1C4-0F06-064F-91F2-9F6CA6DE722D}" destId="{CEF5ABC5-C129-9D47-8EEF-3267FFA2291C}" srcOrd="0" destOrd="0" presId="urn:microsoft.com/office/officeart/2005/8/layout/venn2"/>
    <dgm:cxn modelId="{4FF7ECF8-BA47-1B4E-9995-9E661C3B6FE7}" srcId="{1F0FE1C4-0F06-064F-91F2-9F6CA6DE722D}" destId="{2AD352CF-C7EE-D141-847C-5B882162EC52}" srcOrd="0" destOrd="0" parTransId="{44B6B2F9-52C9-2849-851B-DB05E16CFF35}" sibTransId="{DEB74626-D3E2-1D48-B738-DEE5B71C27B7}"/>
    <dgm:cxn modelId="{AB766ED9-AD3B-6744-844E-77A787506764}" type="presOf" srcId="{8F1E7A6D-DA92-7D4B-B0EA-50864B436B00}" destId="{E7A0E190-DE79-5A44-98B2-D1AC437A397E}" srcOrd="0" destOrd="0" presId="urn:microsoft.com/office/officeart/2005/8/layout/venn2"/>
    <dgm:cxn modelId="{E9E74B40-5DC7-B341-829E-95DEE119725F}" type="presOf" srcId="{2AD352CF-C7EE-D141-847C-5B882162EC52}" destId="{1EE419B4-0767-9C4B-A2CC-D2BF8E7537B1}" srcOrd="1" destOrd="0" presId="urn:microsoft.com/office/officeart/2005/8/layout/venn2"/>
    <dgm:cxn modelId="{5F952FEA-76E4-C74E-B2D8-206326064064}" type="presOf" srcId="{2AD352CF-C7EE-D141-847C-5B882162EC52}" destId="{2BA98C9A-5D19-E446-BF83-504809BCD462}" srcOrd="0" destOrd="0" presId="urn:microsoft.com/office/officeart/2005/8/layout/venn2"/>
    <dgm:cxn modelId="{7150EA7E-20B1-3840-A53D-64AA42284E38}" srcId="{1F0FE1C4-0F06-064F-91F2-9F6CA6DE722D}" destId="{8EB1CFEB-3A62-E548-897B-BA4C86329710}" srcOrd="2" destOrd="0" parTransId="{AFCEC67F-37B9-4F40-BAAC-9586766447BA}" sibTransId="{DEF95840-34F9-314C-A35D-E6B7412800B9}"/>
    <dgm:cxn modelId="{DC64DB39-D2ED-724A-92E0-941F8296CEEB}" type="presOf" srcId="{8EB1CFEB-3A62-E548-897B-BA4C86329710}" destId="{FAA4D520-7723-8347-9ACA-8EFA2B1F0DB2}" srcOrd="1" destOrd="0" presId="urn:microsoft.com/office/officeart/2005/8/layout/venn2"/>
    <dgm:cxn modelId="{27C9F541-7378-F844-AB20-C49DB80F428E}" srcId="{1F0FE1C4-0F06-064F-91F2-9F6CA6DE722D}" destId="{B9C5FDB5-96EF-434D-BC51-33C3212C8734}" srcOrd="1" destOrd="0" parTransId="{E58B2D91-F450-C74F-83E6-543105F9B27B}" sibTransId="{6B18190A-4F70-9E48-9FB2-77431C1EAF6A}"/>
    <dgm:cxn modelId="{6C7CF97A-71D5-104C-BB5E-55D82F23277C}" type="presOf" srcId="{B9C5FDB5-96EF-434D-BC51-33C3212C8734}" destId="{5F7B043E-AE7F-674C-9B51-920D8D33D9AA}" srcOrd="0" destOrd="0" presId="urn:microsoft.com/office/officeart/2005/8/layout/venn2"/>
    <dgm:cxn modelId="{48F5E0A1-2CA5-574D-8E66-5B5B9DBEC3BD}" type="presOf" srcId="{8F1E7A6D-DA92-7D4B-B0EA-50864B436B00}" destId="{5BDDF284-49EE-654F-9FBB-7597B28874F7}" srcOrd="1" destOrd="0" presId="urn:microsoft.com/office/officeart/2005/8/layout/venn2"/>
    <dgm:cxn modelId="{DDD5DE16-9457-5D41-BC7C-0918289082EF}" srcId="{1F0FE1C4-0F06-064F-91F2-9F6CA6DE722D}" destId="{8F1E7A6D-DA92-7D4B-B0EA-50864B436B00}" srcOrd="3" destOrd="0" parTransId="{149BFFD6-CAA4-9644-8CAC-A671EE900E5D}" sibTransId="{00285372-D714-D04A-B66E-B82E1F2113E5}"/>
    <dgm:cxn modelId="{00261CCA-E357-054B-B5D7-C93A24E037D2}" type="presOf" srcId="{8EB1CFEB-3A62-E548-897B-BA4C86329710}" destId="{DBA7B04C-E075-7E41-8C69-CBB05D2282A4}" srcOrd="0" destOrd="0" presId="urn:microsoft.com/office/officeart/2005/8/layout/venn2"/>
    <dgm:cxn modelId="{162585F9-5756-BE43-B544-4E40F18DAB33}" type="presOf" srcId="{B9C5FDB5-96EF-434D-BC51-33C3212C8734}" destId="{1C9B7ADB-E6E7-BD48-954A-6205A5C39D9D}" srcOrd="1" destOrd="0" presId="urn:microsoft.com/office/officeart/2005/8/layout/venn2"/>
    <dgm:cxn modelId="{D296880E-98D0-B847-9187-6111524C1EE4}" type="presParOf" srcId="{CEF5ABC5-C129-9D47-8EEF-3267FFA2291C}" destId="{CE21C589-0B42-AE40-A11F-ADA3A4907831}" srcOrd="0" destOrd="0" presId="urn:microsoft.com/office/officeart/2005/8/layout/venn2"/>
    <dgm:cxn modelId="{039895F4-F6DE-F743-892C-193A98179898}" type="presParOf" srcId="{CE21C589-0B42-AE40-A11F-ADA3A4907831}" destId="{2BA98C9A-5D19-E446-BF83-504809BCD462}" srcOrd="0" destOrd="0" presId="urn:microsoft.com/office/officeart/2005/8/layout/venn2"/>
    <dgm:cxn modelId="{C09C0479-EEA3-4346-B187-0B73DA4BC574}" type="presParOf" srcId="{CE21C589-0B42-AE40-A11F-ADA3A4907831}" destId="{1EE419B4-0767-9C4B-A2CC-D2BF8E7537B1}" srcOrd="1" destOrd="0" presId="urn:microsoft.com/office/officeart/2005/8/layout/venn2"/>
    <dgm:cxn modelId="{F8208316-A3CA-D04B-83DA-A77B36684A4D}" type="presParOf" srcId="{CEF5ABC5-C129-9D47-8EEF-3267FFA2291C}" destId="{4418DD84-FF7C-A240-8749-EA372C0179A6}" srcOrd="1" destOrd="0" presId="urn:microsoft.com/office/officeart/2005/8/layout/venn2"/>
    <dgm:cxn modelId="{4439ACF1-297B-D64E-9DFB-47D6CA73B382}" type="presParOf" srcId="{4418DD84-FF7C-A240-8749-EA372C0179A6}" destId="{5F7B043E-AE7F-674C-9B51-920D8D33D9AA}" srcOrd="0" destOrd="0" presId="urn:microsoft.com/office/officeart/2005/8/layout/venn2"/>
    <dgm:cxn modelId="{B59A64F5-6D32-6D45-BEBE-143390EECA75}" type="presParOf" srcId="{4418DD84-FF7C-A240-8749-EA372C0179A6}" destId="{1C9B7ADB-E6E7-BD48-954A-6205A5C39D9D}" srcOrd="1" destOrd="0" presId="urn:microsoft.com/office/officeart/2005/8/layout/venn2"/>
    <dgm:cxn modelId="{ADFDE318-1097-D441-BE57-6EE03A293463}" type="presParOf" srcId="{CEF5ABC5-C129-9D47-8EEF-3267FFA2291C}" destId="{3D9990C0-58A0-8845-A122-A91B82A5566C}" srcOrd="2" destOrd="0" presId="urn:microsoft.com/office/officeart/2005/8/layout/venn2"/>
    <dgm:cxn modelId="{D4E6F7EC-0462-4F42-A635-8B06C8425A6E}" type="presParOf" srcId="{3D9990C0-58A0-8845-A122-A91B82A5566C}" destId="{DBA7B04C-E075-7E41-8C69-CBB05D2282A4}" srcOrd="0" destOrd="0" presId="urn:microsoft.com/office/officeart/2005/8/layout/venn2"/>
    <dgm:cxn modelId="{94655B6B-54AE-2149-BC76-4B133826285C}" type="presParOf" srcId="{3D9990C0-58A0-8845-A122-A91B82A5566C}" destId="{FAA4D520-7723-8347-9ACA-8EFA2B1F0DB2}" srcOrd="1" destOrd="0" presId="urn:microsoft.com/office/officeart/2005/8/layout/venn2"/>
    <dgm:cxn modelId="{A8A6028D-EAD6-F54E-8528-8DE6F772F7E9}" type="presParOf" srcId="{CEF5ABC5-C129-9D47-8EEF-3267FFA2291C}" destId="{FEA43F79-67AF-4042-BD4A-CE6585C78D2D}" srcOrd="3" destOrd="0" presId="urn:microsoft.com/office/officeart/2005/8/layout/venn2"/>
    <dgm:cxn modelId="{A2FE3437-DDA5-A649-9266-77431F91D2AA}" type="presParOf" srcId="{FEA43F79-67AF-4042-BD4A-CE6585C78D2D}" destId="{E7A0E190-DE79-5A44-98B2-D1AC437A397E}" srcOrd="0" destOrd="0" presId="urn:microsoft.com/office/officeart/2005/8/layout/venn2"/>
    <dgm:cxn modelId="{A63D0F70-B2C2-6C41-9015-800AE2F13C67}" type="presParOf" srcId="{FEA43F79-67AF-4042-BD4A-CE6585C78D2D}" destId="{5BDDF284-49EE-654F-9FBB-7597B28874F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9FC67-B07A-8945-AB53-7A52CADB1577}">
      <dsp:nvSpPr>
        <dsp:cNvPr id="0" name=""/>
        <dsp:cNvSpPr/>
      </dsp:nvSpPr>
      <dsp:spPr>
        <a:xfrm>
          <a:off x="981557" y="3507"/>
          <a:ext cx="2110593" cy="1055296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Outer Space Treaty</a:t>
          </a:r>
          <a:endParaRPr lang="en-US" sz="2600" kern="1200" dirty="0"/>
        </a:p>
      </dsp:txBody>
      <dsp:txXfrm>
        <a:off x="1012466" y="34416"/>
        <a:ext cx="2048775" cy="993478"/>
      </dsp:txXfrm>
    </dsp:sp>
    <dsp:sp modelId="{4A3A9011-15E6-DF49-9206-29742AD5C5FD}">
      <dsp:nvSpPr>
        <dsp:cNvPr id="0" name=""/>
        <dsp:cNvSpPr/>
      </dsp:nvSpPr>
      <dsp:spPr>
        <a:xfrm>
          <a:off x="1192616" y="1058804"/>
          <a:ext cx="211059" cy="7914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91472"/>
              </a:lnTo>
              <a:lnTo>
                <a:pt x="211059" y="791472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204442-54CA-C44C-A039-A63E7C500D7D}">
      <dsp:nvSpPr>
        <dsp:cNvPr id="0" name=""/>
        <dsp:cNvSpPr/>
      </dsp:nvSpPr>
      <dsp:spPr>
        <a:xfrm>
          <a:off x="1403675" y="1322628"/>
          <a:ext cx="1688474" cy="10552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Space Liability Convention</a:t>
          </a:r>
          <a:endParaRPr lang="en-US" sz="2200" kern="1200" dirty="0"/>
        </a:p>
      </dsp:txBody>
      <dsp:txXfrm>
        <a:off x="1434584" y="1353537"/>
        <a:ext cx="1626656" cy="993478"/>
      </dsp:txXfrm>
    </dsp:sp>
    <dsp:sp modelId="{E24F56DF-273B-7549-8A75-ECD5A9141E33}">
      <dsp:nvSpPr>
        <dsp:cNvPr id="0" name=""/>
        <dsp:cNvSpPr/>
      </dsp:nvSpPr>
      <dsp:spPr>
        <a:xfrm>
          <a:off x="1192616" y="1058804"/>
          <a:ext cx="211059" cy="21105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10593"/>
              </a:lnTo>
              <a:lnTo>
                <a:pt x="211059" y="2110593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D9D720-39AD-5646-B198-CA7BF14911AE}">
      <dsp:nvSpPr>
        <dsp:cNvPr id="0" name=""/>
        <dsp:cNvSpPr/>
      </dsp:nvSpPr>
      <dsp:spPr>
        <a:xfrm>
          <a:off x="1403675" y="2641749"/>
          <a:ext cx="1688474" cy="10552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-379322"/>
              <a:satOff val="-20163"/>
              <a:lumOff val="318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Registration Convention</a:t>
          </a:r>
          <a:endParaRPr lang="en-US" sz="2200" kern="1200" dirty="0"/>
        </a:p>
      </dsp:txBody>
      <dsp:txXfrm>
        <a:off x="1434584" y="2672658"/>
        <a:ext cx="1626656" cy="993478"/>
      </dsp:txXfrm>
    </dsp:sp>
    <dsp:sp modelId="{6363535C-3F98-7A4A-B514-87240A7D7750}">
      <dsp:nvSpPr>
        <dsp:cNvPr id="0" name=""/>
        <dsp:cNvSpPr/>
      </dsp:nvSpPr>
      <dsp:spPr>
        <a:xfrm>
          <a:off x="1192616" y="1058804"/>
          <a:ext cx="211059" cy="34297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29714"/>
              </a:lnTo>
              <a:lnTo>
                <a:pt x="211059" y="3429714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4FDE3F-2928-D645-BB42-84FFE26BD1AB}">
      <dsp:nvSpPr>
        <dsp:cNvPr id="0" name=""/>
        <dsp:cNvSpPr/>
      </dsp:nvSpPr>
      <dsp:spPr>
        <a:xfrm>
          <a:off x="1403675" y="3960870"/>
          <a:ext cx="1688474" cy="10552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-379322"/>
              <a:satOff val="-20163"/>
              <a:lumOff val="318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Rescue Agreement</a:t>
          </a:r>
          <a:endParaRPr lang="en-US" sz="2200" kern="1200" dirty="0"/>
        </a:p>
      </dsp:txBody>
      <dsp:txXfrm>
        <a:off x="1434584" y="3991779"/>
        <a:ext cx="1626656" cy="993478"/>
      </dsp:txXfrm>
    </dsp:sp>
    <dsp:sp modelId="{7C1813DC-E02A-4C43-AF7C-1DF77493F8B6}">
      <dsp:nvSpPr>
        <dsp:cNvPr id="0" name=""/>
        <dsp:cNvSpPr/>
      </dsp:nvSpPr>
      <dsp:spPr>
        <a:xfrm>
          <a:off x="3619799" y="3507"/>
          <a:ext cx="2110593" cy="1055296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-568983"/>
            <a:satOff val="-30245"/>
            <a:lumOff val="477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9530" tIns="33020" rIns="4953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Moon Treaty</a:t>
          </a:r>
          <a:endParaRPr lang="en-US" sz="2600" kern="1200" dirty="0"/>
        </a:p>
      </dsp:txBody>
      <dsp:txXfrm>
        <a:off x="3650708" y="34416"/>
        <a:ext cx="2048775" cy="993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A98C9A-5D19-E446-BF83-504809BCD462}">
      <dsp:nvSpPr>
        <dsp:cNvPr id="0" name=""/>
        <dsp:cNvSpPr/>
      </dsp:nvSpPr>
      <dsp:spPr>
        <a:xfrm>
          <a:off x="846137" y="0"/>
          <a:ext cx="5019675" cy="501967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Supernational</a:t>
          </a:r>
          <a:endParaRPr lang="en-US" sz="1400" kern="1200" dirty="0"/>
        </a:p>
      </dsp:txBody>
      <dsp:txXfrm>
        <a:off x="2654224" y="250983"/>
        <a:ext cx="1403501" cy="752951"/>
      </dsp:txXfrm>
    </dsp:sp>
    <dsp:sp modelId="{5F7B043E-AE7F-674C-9B51-920D8D33D9AA}">
      <dsp:nvSpPr>
        <dsp:cNvPr id="0" name=""/>
        <dsp:cNvSpPr/>
      </dsp:nvSpPr>
      <dsp:spPr>
        <a:xfrm>
          <a:off x="1348104" y="1003934"/>
          <a:ext cx="4015740" cy="4015740"/>
        </a:xfrm>
        <a:prstGeom prst="ellipse">
          <a:avLst/>
        </a:prstGeom>
        <a:solidFill>
          <a:schemeClr val="accent5">
            <a:hueOff val="-7107707"/>
            <a:satOff val="4040"/>
            <a:lumOff val="-33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National</a:t>
          </a:r>
          <a:endParaRPr lang="en-US" sz="1400" kern="1200" dirty="0"/>
        </a:p>
      </dsp:txBody>
      <dsp:txXfrm>
        <a:off x="2654224" y="1244879"/>
        <a:ext cx="1403501" cy="722833"/>
      </dsp:txXfrm>
    </dsp:sp>
    <dsp:sp modelId="{DBA7B04C-E075-7E41-8C69-CBB05D2282A4}">
      <dsp:nvSpPr>
        <dsp:cNvPr id="0" name=""/>
        <dsp:cNvSpPr/>
      </dsp:nvSpPr>
      <dsp:spPr>
        <a:xfrm>
          <a:off x="1850072" y="2007869"/>
          <a:ext cx="3011805" cy="3011805"/>
        </a:xfrm>
        <a:prstGeom prst="ellipse">
          <a:avLst/>
        </a:prstGeom>
        <a:solidFill>
          <a:schemeClr val="accent5">
            <a:hueOff val="-14215414"/>
            <a:satOff val="8079"/>
            <a:lumOff val="-66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State</a:t>
          </a:r>
          <a:endParaRPr lang="en-US" sz="1400" kern="1200" dirty="0"/>
        </a:p>
      </dsp:txBody>
      <dsp:txXfrm>
        <a:off x="2654224" y="2233755"/>
        <a:ext cx="1403501" cy="677656"/>
      </dsp:txXfrm>
    </dsp:sp>
    <dsp:sp modelId="{E7A0E190-DE79-5A44-98B2-D1AC437A397E}">
      <dsp:nvSpPr>
        <dsp:cNvPr id="0" name=""/>
        <dsp:cNvSpPr/>
      </dsp:nvSpPr>
      <dsp:spPr>
        <a:xfrm>
          <a:off x="2352040" y="3011805"/>
          <a:ext cx="2007870" cy="2007870"/>
        </a:xfrm>
        <a:prstGeom prst="ellipse">
          <a:avLst/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Local</a:t>
          </a:r>
          <a:endParaRPr lang="en-US" sz="1400" kern="1200" dirty="0"/>
        </a:p>
      </dsp:txBody>
      <dsp:txXfrm>
        <a:off x="2646085" y="3513772"/>
        <a:ext cx="1419778" cy="1003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8EAEC-2B83-B447-BD4F-52FF438505A2}" type="datetimeFigureOut">
              <a:rPr lang="en-US" smtClean="0"/>
              <a:t>8/13/15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BF8E6-9626-C44A-90DC-9C4B2756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4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33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Don’t be a jerk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50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7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charset="0"/>
              <a:buChar char="•"/>
            </a:pPr>
            <a:r>
              <a:rPr lang="en-US" dirty="0" smtClean="0"/>
              <a:t>Left to their own devices, people will form their own government</a:t>
            </a:r>
          </a:p>
          <a:p>
            <a:pPr marL="171450" indent="-171450">
              <a:buFont typeface="Arial" charset="0"/>
              <a:buChar char="•"/>
            </a:pPr>
            <a:r>
              <a:rPr lang="en-US" dirty="0" smtClean="0"/>
              <a:t>That government will be more-or-less democratic and more-or-less representative</a:t>
            </a:r>
          </a:p>
          <a:p>
            <a:pPr marL="628650" lvl="1" indent="-171450">
              <a:buFont typeface="Arial" charset="0"/>
              <a:buChar char="•"/>
            </a:pPr>
            <a:r>
              <a:rPr lang="en-US" dirty="0" smtClean="0"/>
              <a:t>That’s easier to sell people on</a:t>
            </a:r>
          </a:p>
          <a:p>
            <a:pPr marL="171450" lvl="0" indent="-171450">
              <a:buFont typeface="Arial" charset="0"/>
              <a:buChar char="•"/>
            </a:pPr>
            <a:r>
              <a:rPr lang="en-US" dirty="0" smtClean="0"/>
              <a:t>People will hold to it</a:t>
            </a:r>
          </a:p>
          <a:p>
            <a:pPr marL="628650" lvl="1" indent="-171450">
              <a:buFont typeface="Arial" charset="0"/>
              <a:buChar char="•"/>
            </a:pPr>
            <a:r>
              <a:rPr lang="en-US" dirty="0" smtClean="0"/>
              <a:t>The</a:t>
            </a:r>
            <a:r>
              <a:rPr lang="en-US" baseline="0" dirty="0" smtClean="0"/>
              <a:t> General Court is still extant</a:t>
            </a:r>
          </a:p>
          <a:p>
            <a:pPr marL="628650" lvl="1" indent="-171450">
              <a:buFont typeface="Arial" charset="0"/>
              <a:buChar char="•"/>
            </a:pPr>
            <a:r>
              <a:rPr lang="en-US" baseline="0" dirty="0" smtClean="0"/>
              <a:t>So is the </a:t>
            </a:r>
            <a:r>
              <a:rPr lang="en-US" baseline="0" dirty="0" err="1" smtClean="0"/>
              <a:t>Alþingi</a:t>
            </a:r>
            <a:endParaRPr lang="en-US" baseline="0" dirty="0" smtClean="0"/>
          </a:p>
          <a:p>
            <a:pPr marL="171450" lvl="0" indent="-171450">
              <a:buFont typeface="Arial" charset="0"/>
              <a:buChar char="•"/>
            </a:pPr>
            <a:endParaRPr lang="en-US" baseline="0" dirty="0" smtClean="0"/>
          </a:p>
          <a:p>
            <a:pPr marL="171450" lvl="0" indent="-171450">
              <a:buFont typeface="Arial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80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98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1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492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42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BBF8E6-9626-C44A-90DC-9C4B275672A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272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3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microsoft.com/office/2007/relationships/hdphoto" Target="../media/hdphoto1.wdp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754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5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20EBB0C4-6273-4C6E-B9BD-2EDC30F1CD52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954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779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295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48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422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BBEA6-7C60-4B02-AE87-00D78D8422AF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728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8/13/15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856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63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2383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Relationship Id="rId14" Type="http://schemas.microsoft.com/office/2007/relationships/hdphoto" Target="../media/hdphoto1.wdp"/><Relationship Id="rId15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8/13/15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12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51" r:id="rId1"/>
    <p:sldLayoutId id="2147484452" r:id="rId2"/>
    <p:sldLayoutId id="2147484453" r:id="rId3"/>
    <p:sldLayoutId id="2147484454" r:id="rId4"/>
    <p:sldLayoutId id="2147484455" r:id="rId5"/>
    <p:sldLayoutId id="2147484456" r:id="rId6"/>
    <p:sldLayoutId id="2147484457" r:id="rId7"/>
    <p:sldLayoutId id="2147484458" r:id="rId8"/>
    <p:sldLayoutId id="2147484459" r:id="rId9"/>
    <p:sldLayoutId id="2147484460" r:id="rId10"/>
    <p:sldLayoutId id="21474844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8.xml"/><Relationship Id="rId2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Planning for Martian Polity</a:t>
            </a:r>
            <a:endParaRPr lang="en-US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>James P. Howard, II</a:t>
            </a:r>
            <a:br>
              <a:rPr lang="en-US" sz="2000" dirty="0" smtClean="0"/>
            </a:br>
            <a:r>
              <a:rPr lang="en-US" sz="2000" dirty="0" smtClean="0"/>
              <a:t>University of Maryland University College</a:t>
            </a:r>
          </a:p>
          <a:p>
            <a:r>
              <a:rPr lang="en-US" sz="2000" dirty="0" smtClean="0"/>
              <a:t>18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Mars Society Convention</a:t>
            </a:r>
            <a:br>
              <a:rPr lang="en-US" sz="2000" dirty="0" smtClean="0"/>
            </a:br>
            <a:r>
              <a:rPr lang="en-US" sz="2000" dirty="0" smtClean="0"/>
              <a:t>14 </a:t>
            </a:r>
            <a:r>
              <a:rPr lang="en-US" sz="2000" dirty="0" smtClean="0"/>
              <a:t>August 2015—Washington, DC</a:t>
            </a:r>
          </a:p>
        </p:txBody>
      </p:sp>
    </p:spTree>
    <p:extLst>
      <p:ext uri="{BB962C8B-B14F-4D97-AF65-F5344CB8AC3E}">
        <p14:creationId xmlns:p14="http://schemas.microsoft.com/office/powerpoint/2010/main" val="180428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5" r="8495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Why talk about this</a:t>
            </a:r>
          </a:p>
          <a:p>
            <a:pPr algn="r"/>
            <a:endParaRPr lang="en-US" dirty="0" smtClean="0"/>
          </a:p>
          <a:p>
            <a:pPr algn="r"/>
            <a:r>
              <a:rPr lang="en-US" sz="1000" dirty="0" smtClean="0"/>
              <a:t>"</a:t>
            </a:r>
            <a:r>
              <a:rPr lang="en-US" sz="1000" dirty="0"/>
              <a:t>Mars mission" by Les </a:t>
            </a:r>
            <a:r>
              <a:rPr lang="en-US" sz="1000" dirty="0" err="1"/>
              <a:t>Bossinas</a:t>
            </a:r>
            <a:r>
              <a:rPr lang="en-US" sz="1000" dirty="0"/>
              <a:t> of NASA Lewis Research </a:t>
            </a:r>
            <a:r>
              <a:rPr lang="en-US" sz="1000" dirty="0" smtClean="0"/>
              <a:t>Center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9206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MarsOne</a:t>
            </a:r>
            <a:endParaRPr lang="en-US" dirty="0" smtClean="0"/>
          </a:p>
          <a:p>
            <a:r>
              <a:rPr lang="en-US" dirty="0" smtClean="0"/>
              <a:t>Recommendations for global government</a:t>
            </a:r>
          </a:p>
          <a:p>
            <a:r>
              <a:rPr lang="en-US" dirty="0" smtClean="0"/>
              <a:t>Need for private ownership</a:t>
            </a:r>
          </a:p>
          <a:p>
            <a:pPr lvl="1"/>
            <a:r>
              <a:rPr lang="en-US" dirty="0" smtClean="0"/>
              <a:t>Supports economic stability and growth</a:t>
            </a:r>
          </a:p>
          <a:p>
            <a:r>
              <a:rPr lang="en-US" dirty="0" smtClean="0"/>
              <a:t>Recommendations for intergovernmental ethics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You can’t realistically claim what you can’t realistically defend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67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Existing Frameworks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2" r="4592"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Who’s already done something</a:t>
            </a:r>
          </a:p>
          <a:p>
            <a:endParaRPr lang="en-US" dirty="0"/>
          </a:p>
          <a:p>
            <a:pPr algn="r"/>
            <a:r>
              <a:rPr lang="en-US" sz="1000" dirty="0"/>
              <a:t>"</a:t>
            </a:r>
            <a:r>
              <a:rPr lang="en-US" sz="1000" dirty="0" err="1"/>
              <a:t>Traktat</a:t>
            </a:r>
            <a:r>
              <a:rPr lang="en-US" sz="1000" dirty="0"/>
              <a:t> </a:t>
            </a:r>
            <a:r>
              <a:rPr lang="en-US" sz="1000" dirty="0" err="1"/>
              <a:t>brzeski</a:t>
            </a:r>
            <a:r>
              <a:rPr lang="en-US" sz="1000" dirty="0"/>
              <a:t> 1918". Licensed under Public Domain via Wikimedia </a:t>
            </a:r>
            <a:r>
              <a:rPr lang="en-US" sz="1000" dirty="0" smtClean="0"/>
              <a:t>Commons.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03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7177203"/>
              </p:ext>
            </p:extLst>
          </p:nvPr>
        </p:nvGraphicFramePr>
        <p:xfrm>
          <a:off x="838200" y="685800"/>
          <a:ext cx="6711950" cy="5019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Clr>
                <a:schemeClr val="bg1"/>
              </a:buClr>
              <a:buFont typeface="Arial" charset="0"/>
              <a:buChar char="•"/>
            </a:pPr>
            <a:r>
              <a:rPr lang="en-US" dirty="0" smtClean="0"/>
              <a:t>Several treaties address the specifics of space exploration</a:t>
            </a:r>
          </a:p>
          <a:p>
            <a:pPr marL="285750" indent="-285750">
              <a:buClr>
                <a:schemeClr val="bg1"/>
              </a:buClr>
              <a:buFont typeface="Arial" charset="0"/>
              <a:buChar char="•"/>
            </a:pPr>
            <a:r>
              <a:rPr lang="en-US" dirty="0" smtClean="0"/>
              <a:t>Others include coincident material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8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Treaty on principles governing the activities of states in the exploration and use of outer space, including the moon and other celestial bodies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Adopted </a:t>
            </a:r>
            <a:r>
              <a:rPr lang="en-US" dirty="0"/>
              <a:t>in 1967</a:t>
            </a:r>
          </a:p>
          <a:p>
            <a:r>
              <a:rPr lang="en-US" dirty="0"/>
              <a:t>Defining framework for space use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Nongovernmental actors subject to governmental supervision</a:t>
            </a:r>
          </a:p>
          <a:p>
            <a:r>
              <a:rPr lang="en-US" dirty="0"/>
              <a:t>No nuclear weapons in space</a:t>
            </a:r>
          </a:p>
          <a:p>
            <a:r>
              <a:rPr lang="en-US" dirty="0" smtClean="0"/>
              <a:t>Nobody can claim anything in space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Outer Space Treaty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33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69640" y="2760987"/>
            <a:ext cx="4754880" cy="3291840"/>
          </a:xfrm>
        </p:spPr>
        <p:txBody>
          <a:bodyPr/>
          <a:lstStyle/>
          <a:p>
            <a:r>
              <a:rPr lang="en-US" dirty="0"/>
              <a:t>Convention on International Liability for Damage Caused by Space Objects</a:t>
            </a:r>
          </a:p>
          <a:p>
            <a:r>
              <a:rPr lang="en-US" dirty="0"/>
              <a:t>Adopted in </a:t>
            </a:r>
            <a:r>
              <a:rPr lang="en-US" dirty="0" smtClean="0"/>
              <a:t>1972</a:t>
            </a:r>
          </a:p>
          <a:p>
            <a:r>
              <a:rPr lang="en-US" dirty="0" smtClean="0"/>
              <a:t>Ensures safe exploration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Nations have liability when their spacecraft crash</a:t>
            </a:r>
          </a:p>
          <a:p>
            <a:r>
              <a:rPr lang="en-US" dirty="0"/>
              <a:t>Only states can sue each other for damages</a:t>
            </a:r>
          </a:p>
          <a:p>
            <a:pPr lvl="1"/>
            <a:r>
              <a:rPr lang="en-US" dirty="0"/>
              <a:t>No private action</a:t>
            </a:r>
          </a:p>
          <a:p>
            <a:r>
              <a:rPr lang="en-US" dirty="0"/>
              <a:t>Used once, when </a:t>
            </a:r>
            <a:r>
              <a:rPr lang="en-US" dirty="0" err="1"/>
              <a:t>Kosmos</a:t>
            </a:r>
            <a:r>
              <a:rPr lang="en-US" dirty="0"/>
              <a:t> 954 crashed in Canada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Space Liability Convention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3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Convention on Registration of Objects Launched into Outer Space</a:t>
            </a:r>
          </a:p>
          <a:p>
            <a:r>
              <a:rPr lang="en-US" dirty="0"/>
              <a:t>Adopted in </a:t>
            </a:r>
            <a:r>
              <a:rPr lang="en-US" dirty="0" smtClean="0"/>
              <a:t>1975</a:t>
            </a:r>
          </a:p>
          <a:p>
            <a:r>
              <a:rPr lang="en-US" dirty="0" smtClean="0"/>
              <a:t>Ensures we know what’s where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Every country needs to maintain a registry of what they are sending in to space</a:t>
            </a:r>
          </a:p>
          <a:p>
            <a:r>
              <a:rPr lang="en-US" dirty="0"/>
              <a:t>They need to periodically let the UN know what they are sending in to space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Registration Agreement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2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Agreement on the Rescue of Astronauts, the Return of Astronauts and the Return of Objects Launched into Outer Space</a:t>
            </a:r>
          </a:p>
          <a:p>
            <a:r>
              <a:rPr lang="en-US" dirty="0"/>
              <a:t>Adopted in </a:t>
            </a:r>
            <a:r>
              <a:rPr lang="en-US" dirty="0" smtClean="0"/>
              <a:t>1979</a:t>
            </a:r>
          </a:p>
          <a:p>
            <a:r>
              <a:rPr lang="en-US" dirty="0" smtClean="0"/>
              <a:t>Ensures safe return of astronauts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Everyone has a duty to rescue astronauts</a:t>
            </a:r>
          </a:p>
          <a:p>
            <a:r>
              <a:rPr lang="en-US" dirty="0"/>
              <a:t>This includes landed astronauts</a:t>
            </a:r>
          </a:p>
          <a:p>
            <a:r>
              <a:rPr lang="en-US" dirty="0"/>
              <a:t>Covers safe return to home country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Rescue Agreement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30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Key Details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Agreement Governing the Activities of States on the Moon and Other Celestial Bodies</a:t>
            </a:r>
          </a:p>
          <a:p>
            <a:r>
              <a:rPr lang="en-US" dirty="0" smtClean="0"/>
              <a:t>Adopted </a:t>
            </a:r>
            <a:r>
              <a:rPr lang="en-US" dirty="0"/>
              <a:t>in </a:t>
            </a:r>
            <a:r>
              <a:rPr lang="en-US" dirty="0" smtClean="0"/>
              <a:t>1979</a:t>
            </a:r>
            <a:endParaRPr lang="en-US" dirty="0"/>
          </a:p>
          <a:p>
            <a:pPr>
              <a:buFont typeface="Arial" charset="0"/>
              <a:buChar char="•"/>
            </a:pPr>
            <a:r>
              <a:rPr lang="en-US" dirty="0"/>
              <a:t>Defining framework for international governance of all celestial </a:t>
            </a:r>
            <a:r>
              <a:rPr lang="en-US" dirty="0" smtClean="0"/>
              <a:t>bodies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 smtClean="0">
                <a:solidFill>
                  <a:schemeClr val="accent2"/>
                </a:solidFill>
              </a:rPr>
              <a:t>Almost Nobody </a:t>
            </a:r>
            <a:r>
              <a:rPr lang="en-US" b="1" dirty="0">
                <a:solidFill>
                  <a:schemeClr val="accent2"/>
                </a:solidFill>
              </a:rPr>
              <a:t>Signed It</a:t>
            </a:r>
          </a:p>
          <a:p>
            <a:pPr>
              <a:buFont typeface="Arial" charset="0"/>
              <a:buChar char="•"/>
            </a:pP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Highlights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Actually governs everything outside of Earth</a:t>
            </a:r>
          </a:p>
          <a:p>
            <a:pPr>
              <a:buFont typeface="Arial" charset="0"/>
              <a:buChar char="•"/>
            </a:pPr>
            <a:r>
              <a:rPr lang="en-US" dirty="0"/>
              <a:t>Includes orbits around those bodies</a:t>
            </a:r>
          </a:p>
          <a:p>
            <a:pPr>
              <a:buFont typeface="Arial" charset="0"/>
              <a:buChar char="•"/>
            </a:pPr>
            <a:r>
              <a:rPr lang="en-US" dirty="0"/>
              <a:t>Peaceful purposes</a:t>
            </a:r>
          </a:p>
          <a:p>
            <a:r>
              <a:rPr lang="en-US" dirty="0"/>
              <a:t>Everyone can go and play</a:t>
            </a:r>
          </a:p>
          <a:p>
            <a:r>
              <a:rPr lang="en-US" dirty="0"/>
              <a:t>Must only use what is necessary</a:t>
            </a:r>
          </a:p>
          <a:p>
            <a:r>
              <a:rPr lang="en-US" dirty="0"/>
              <a:t>Duty of rescue</a:t>
            </a:r>
          </a:p>
          <a:p>
            <a:pPr lvl="1"/>
            <a:r>
              <a:rPr lang="en-US" dirty="0"/>
              <a:t>Must also notify in event of </a:t>
            </a:r>
            <a:r>
              <a:rPr lang="en-US" dirty="0" smtClean="0"/>
              <a:t>crash</a:t>
            </a:r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Moon Treaty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583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Historical Analogues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8" r="7058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What can we learn from who came before us</a:t>
            </a:r>
          </a:p>
          <a:p>
            <a:endParaRPr lang="en-US" dirty="0"/>
          </a:p>
          <a:p>
            <a:pPr algn="r"/>
            <a:r>
              <a:rPr lang="en-US" sz="1000" dirty="0"/>
              <a:t>By </a:t>
            </a:r>
            <a:r>
              <a:rPr lang="en-US" sz="1000" dirty="0" smtClean="0"/>
              <a:t>Claude </a:t>
            </a:r>
            <a:r>
              <a:rPr lang="en-US" sz="1000" dirty="0"/>
              <a:t>Thomas Stanfield Moore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25080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Iceland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07803"/>
            <a:ext cx="6711950" cy="457566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r"/>
            <a:r>
              <a:rPr lang="en-US" sz="1000" dirty="0"/>
              <a:t>Oscar </a:t>
            </a:r>
            <a:r>
              <a:rPr lang="en-US" sz="1000" dirty="0" err="1"/>
              <a:t>Wergeland</a:t>
            </a:r>
            <a:r>
              <a:rPr lang="en-US" sz="1000" dirty="0"/>
              <a:t>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73041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Age of Settlement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Well-documented, due to Sagas</a:t>
            </a:r>
          </a:p>
          <a:p>
            <a:r>
              <a:rPr lang="en-US" dirty="0" smtClean="0"/>
              <a:t>Small family farms, not cities</a:t>
            </a:r>
          </a:p>
          <a:p>
            <a:r>
              <a:rPr lang="en-US" dirty="0"/>
              <a:t>1</a:t>
            </a:r>
            <a:r>
              <a:rPr lang="en-US" dirty="0" smtClean="0"/>
              <a:t>500 place names in 60 years</a:t>
            </a:r>
          </a:p>
          <a:p>
            <a:pPr lvl="1"/>
            <a:r>
              <a:rPr lang="en-US" dirty="0" smtClean="0"/>
              <a:t>About 3500 people listed</a:t>
            </a:r>
          </a:p>
          <a:p>
            <a:pPr lvl="1"/>
            <a:r>
              <a:rPr lang="en-US" dirty="0" smtClean="0"/>
              <a:t>Source</a:t>
            </a:r>
            <a:r>
              <a:rPr lang="en-US" dirty="0"/>
              <a:t>: </a:t>
            </a:r>
            <a:r>
              <a:rPr lang="en-US" i="1" dirty="0" err="1" smtClean="0"/>
              <a:t>Landnámabók</a:t>
            </a:r>
            <a:endParaRPr lang="en-US" i="1" dirty="0" smtClean="0"/>
          </a:p>
          <a:p>
            <a:r>
              <a:rPr lang="en-US" dirty="0" smtClean="0"/>
              <a:t>Age of Settlement ends with all usable land consumed</a:t>
            </a:r>
          </a:p>
          <a:p>
            <a:endParaRPr lang="en-US" dirty="0" smtClean="0"/>
          </a:p>
          <a:p>
            <a:pPr marL="0" indent="0" algn="r">
              <a:buNone/>
            </a:pPr>
            <a:r>
              <a:rPr lang="en-US" sz="1000" dirty="0">
                <a:solidFill>
                  <a:schemeClr val="accent2"/>
                </a:solidFill>
              </a:rPr>
              <a:t>"</a:t>
            </a:r>
            <a:r>
              <a:rPr lang="en-US" sz="1000" dirty="0" err="1">
                <a:solidFill>
                  <a:schemeClr val="accent2"/>
                </a:solidFill>
              </a:rPr>
              <a:t>Egil</a:t>
            </a:r>
            <a:r>
              <a:rPr lang="en-US" sz="1000" dirty="0">
                <a:solidFill>
                  <a:schemeClr val="accent2"/>
                </a:solidFill>
              </a:rPr>
              <a:t> </a:t>
            </a:r>
            <a:r>
              <a:rPr lang="en-US" sz="1000" dirty="0" err="1">
                <a:solidFill>
                  <a:schemeClr val="accent2"/>
                </a:solidFill>
              </a:rPr>
              <a:t>Skallagrimsson</a:t>
            </a:r>
            <a:r>
              <a:rPr lang="en-US" sz="1000" dirty="0">
                <a:solidFill>
                  <a:schemeClr val="accent2"/>
                </a:solidFill>
              </a:rPr>
              <a:t> 17c manuscript" by </a:t>
            </a:r>
            <a:r>
              <a:rPr lang="en-US" sz="1000" dirty="0" smtClean="0">
                <a:solidFill>
                  <a:schemeClr val="accent2"/>
                </a:solidFill>
              </a:rPr>
              <a:t>Unknown</a:t>
            </a:r>
            <a:endParaRPr lang="en-US" sz="1000" dirty="0">
              <a:solidFill>
                <a:schemeClr val="accent2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07" y="2193925"/>
            <a:ext cx="2882123" cy="3978275"/>
          </a:xfrm>
        </p:spPr>
      </p:pic>
    </p:spTree>
    <p:extLst>
      <p:ext uri="{BB962C8B-B14F-4D97-AF65-F5344CB8AC3E}">
        <p14:creationId xmlns:p14="http://schemas.microsoft.com/office/powerpoint/2010/main" val="68403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Self-Governance: </a:t>
            </a:r>
            <a:r>
              <a:rPr lang="en-US" dirty="0" err="1" smtClean="0"/>
              <a:t>Alþingi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995" y="2193925"/>
            <a:ext cx="3080522" cy="3978275"/>
          </a:xfrm>
        </p:spPr>
      </p:pic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General assembly</a:t>
            </a:r>
          </a:p>
          <a:p>
            <a:r>
              <a:rPr lang="en-US" dirty="0" smtClean="0"/>
              <a:t>All free men could attend</a:t>
            </a:r>
          </a:p>
          <a:p>
            <a:r>
              <a:rPr lang="en-US" dirty="0" smtClean="0"/>
              <a:t>Assembly met in legislative and judicial roles</a:t>
            </a:r>
          </a:p>
          <a:p>
            <a:r>
              <a:rPr lang="en-US" dirty="0" smtClean="0"/>
              <a:t>Modeled on tradition Norse local governance</a:t>
            </a:r>
          </a:p>
          <a:p>
            <a:r>
              <a:rPr lang="en-US" dirty="0" smtClean="0"/>
              <a:t>Power rested with local chieftains  </a:t>
            </a:r>
          </a:p>
          <a:p>
            <a:pPr lvl="1"/>
            <a:r>
              <a:rPr lang="en-US" dirty="0" smtClean="0"/>
              <a:t>Largely run by nationwide aristocracy</a:t>
            </a:r>
          </a:p>
          <a:p>
            <a:endParaRPr lang="en-US" dirty="0"/>
          </a:p>
          <a:p>
            <a:pPr marL="0" indent="0" algn="r">
              <a:buNone/>
            </a:pPr>
            <a:r>
              <a:rPr lang="en-US" sz="1000" dirty="0" smtClean="0">
                <a:solidFill>
                  <a:schemeClr val="accent2"/>
                </a:solidFill>
              </a:rPr>
              <a:t>W</a:t>
            </a:r>
            <a:r>
              <a:rPr lang="en-US" sz="1000" dirty="0">
                <a:solidFill>
                  <a:schemeClr val="accent2"/>
                </a:solidFill>
              </a:rPr>
              <a:t>. G. Collingwood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95894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Jamestown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r"/>
            <a:r>
              <a:rPr lang="en-US" sz="1000" dirty="0" smtClean="0"/>
              <a:t>Ken Lund</a:t>
            </a:r>
            <a:endParaRPr lang="en-US" sz="10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25" y="685800"/>
            <a:ext cx="6692900" cy="5019675"/>
          </a:xfrm>
        </p:spPr>
      </p:pic>
    </p:spTree>
    <p:extLst>
      <p:ext uri="{BB962C8B-B14F-4D97-AF65-F5344CB8AC3E}">
        <p14:creationId xmlns:p14="http://schemas.microsoft.com/office/powerpoint/2010/main" val="85636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 Colony in 1607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Followed several failed colonies</a:t>
            </a:r>
          </a:p>
          <a:p>
            <a:r>
              <a:rPr lang="en-US" dirty="0" smtClean="0"/>
              <a:t>Organized by the Virginia Company of London</a:t>
            </a:r>
          </a:p>
          <a:p>
            <a:pPr lvl="1"/>
            <a:r>
              <a:rPr lang="en-US" dirty="0" smtClean="0"/>
              <a:t>And taking orders from London</a:t>
            </a:r>
          </a:p>
          <a:p>
            <a:pPr lvl="1"/>
            <a:r>
              <a:rPr lang="en-US" dirty="0" smtClean="0"/>
              <a:t>Appointed local 7-member governing council</a:t>
            </a:r>
          </a:p>
          <a:p>
            <a:pPr lvl="1"/>
            <a:r>
              <a:rPr lang="en-US" dirty="0" smtClean="0"/>
              <a:t>Locally elected president</a:t>
            </a:r>
          </a:p>
          <a:p>
            <a:pPr lvl="1"/>
            <a:r>
              <a:rPr lang="en-US" dirty="0" smtClean="0"/>
              <a:t>Within a two years, only one member</a:t>
            </a:r>
            <a:endParaRPr lang="en-US" dirty="0"/>
          </a:p>
          <a:p>
            <a:r>
              <a:rPr lang="en-US" dirty="0" smtClean="0"/>
              <a:t>Virginia Company suspends local rule by 1609 for 9 years</a:t>
            </a:r>
          </a:p>
          <a:p>
            <a:endParaRPr lang="en-US" dirty="0" smtClean="0"/>
          </a:p>
          <a:p>
            <a:pPr marL="0" indent="0" algn="r">
              <a:buNone/>
            </a:pPr>
            <a:r>
              <a:rPr lang="en-US" sz="1000" dirty="0">
                <a:solidFill>
                  <a:schemeClr val="accent2"/>
                </a:solidFill>
              </a:rPr>
              <a:t>By </a:t>
            </a:r>
            <a:r>
              <a:rPr lang="en-US" sz="1000" dirty="0" err="1">
                <a:solidFill>
                  <a:schemeClr val="accent2"/>
                </a:solidFill>
              </a:rPr>
              <a:t>Nationalparks</a:t>
            </a:r>
            <a:r>
              <a:rPr lang="en-US" sz="1000" dirty="0" smtClean="0">
                <a:solidFill>
                  <a:schemeClr val="accent2"/>
                </a:solidFill>
              </a:rPr>
              <a:t>.  </a:t>
            </a:r>
            <a:r>
              <a:rPr lang="en-US" sz="1000" dirty="0" err="1" smtClean="0">
                <a:solidFill>
                  <a:schemeClr val="accent2"/>
                </a:solidFill>
              </a:rPr>
              <a:t>Nationalparks</a:t>
            </a:r>
            <a:r>
              <a:rPr lang="en-US" sz="1000" dirty="0" smtClean="0">
                <a:solidFill>
                  <a:schemeClr val="accent2"/>
                </a:solidFill>
              </a:rPr>
              <a:t> </a:t>
            </a:r>
            <a:r>
              <a:rPr lang="en-US" sz="1000" dirty="0">
                <a:solidFill>
                  <a:schemeClr val="accent2"/>
                </a:solidFill>
              </a:rPr>
              <a:t>at </a:t>
            </a:r>
            <a:r>
              <a:rPr lang="en-US" sz="1000" dirty="0" err="1" smtClean="0">
                <a:solidFill>
                  <a:schemeClr val="accent2"/>
                </a:solidFill>
              </a:rPr>
              <a:t>en.wikipedia</a:t>
            </a:r>
            <a:endParaRPr lang="en-US" sz="1000" dirty="0">
              <a:solidFill>
                <a:schemeClr val="accent2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288" y="2400102"/>
            <a:ext cx="4754562" cy="3565921"/>
          </a:xfrm>
        </p:spPr>
      </p:pic>
    </p:spTree>
    <p:extLst>
      <p:ext uri="{BB962C8B-B14F-4D97-AF65-F5344CB8AC3E}">
        <p14:creationId xmlns:p14="http://schemas.microsoft.com/office/powerpoint/2010/main" val="6593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1618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75" y="2598881"/>
            <a:ext cx="4754563" cy="3168363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New Governor and Council appointed by the London Company</a:t>
            </a:r>
          </a:p>
          <a:p>
            <a:r>
              <a:rPr lang="en-US" dirty="0" smtClean="0"/>
              <a:t>Elected House of Burgesses</a:t>
            </a:r>
          </a:p>
          <a:p>
            <a:pPr lvl="1"/>
            <a:r>
              <a:rPr lang="en-US" dirty="0" smtClean="0"/>
              <a:t>Two members from every town</a:t>
            </a:r>
          </a:p>
          <a:p>
            <a:r>
              <a:rPr lang="en-US" dirty="0" smtClean="0"/>
              <a:t>Together, can pass laws, and otherwise looks like a government</a:t>
            </a:r>
          </a:p>
          <a:p>
            <a:r>
              <a:rPr lang="en-US" dirty="0" smtClean="0"/>
              <a:t>By 1624, Virginia is a Royal Colony</a:t>
            </a:r>
          </a:p>
          <a:p>
            <a:endParaRPr lang="en-US" dirty="0"/>
          </a:p>
          <a:p>
            <a:endParaRPr lang="en-US" dirty="0" smtClean="0"/>
          </a:p>
          <a:p>
            <a:pPr marL="0" indent="0" algn="r">
              <a:buNone/>
            </a:pPr>
            <a:r>
              <a:rPr lang="en-US" sz="1000" dirty="0">
                <a:solidFill>
                  <a:schemeClr val="accent2"/>
                </a:solidFill>
              </a:rPr>
              <a:t>Ken </a:t>
            </a:r>
            <a:r>
              <a:rPr lang="en-US" sz="1000" dirty="0" smtClean="0">
                <a:solidFill>
                  <a:schemeClr val="accent2"/>
                </a:solidFill>
              </a:rPr>
              <a:t>Lund</a:t>
            </a:r>
            <a:endParaRPr lang="en-US" sz="1000" dirty="0">
              <a:solidFill>
                <a:schemeClr val="accent2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Massachusetts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algn="r"/>
            <a:r>
              <a:rPr lang="en-US" sz="1000" dirty="0"/>
              <a:t>"Mayflower in Plymouth Harbor," by William </a:t>
            </a:r>
            <a:r>
              <a:rPr lang="en-US" sz="1000" dirty="0" err="1"/>
              <a:t>Halsall</a:t>
            </a:r>
            <a:r>
              <a:rPr lang="en-US" sz="1000" dirty="0"/>
              <a:t>, 1882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81743"/>
            <a:ext cx="6711950" cy="3027788"/>
          </a:xfrm>
        </p:spPr>
      </p:pic>
    </p:spTree>
    <p:extLst>
      <p:ext uri="{BB962C8B-B14F-4D97-AF65-F5344CB8AC3E}">
        <p14:creationId xmlns:p14="http://schemas.microsoft.com/office/powerpoint/2010/main" val="84662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Mayflower Compact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288" y="2508467"/>
            <a:ext cx="4754562" cy="3349191"/>
          </a:xfr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 smtClean="0"/>
              <a:t>Mayflower</a:t>
            </a:r>
            <a:r>
              <a:rPr lang="en-US" dirty="0" smtClean="0"/>
              <a:t> destined for Virginia, 1620</a:t>
            </a:r>
          </a:p>
          <a:p>
            <a:r>
              <a:rPr lang="en-US" dirty="0" smtClean="0"/>
              <a:t>Due to storms, landed in Mass. Bay</a:t>
            </a:r>
          </a:p>
          <a:p>
            <a:r>
              <a:rPr lang="en-US" dirty="0" smtClean="0"/>
              <a:t>Intent to distinguish from Virginia</a:t>
            </a:r>
          </a:p>
          <a:p>
            <a:r>
              <a:rPr lang="en-US" dirty="0" smtClean="0"/>
              <a:t>Original text lost</a:t>
            </a:r>
          </a:p>
          <a:p>
            <a:r>
              <a:rPr lang="en-US" dirty="0" smtClean="0"/>
              <a:t>Not a form of government, itself</a:t>
            </a:r>
          </a:p>
          <a:p>
            <a:pPr lvl="1"/>
            <a:r>
              <a:rPr lang="en-US" dirty="0" smtClean="0"/>
              <a:t>Only a promise to collective establish and adhere to a government</a:t>
            </a:r>
          </a:p>
          <a:p>
            <a:pPr lvl="1"/>
            <a:r>
              <a:rPr lang="en-US" dirty="0" smtClean="0"/>
              <a:t>“We are a people.”</a:t>
            </a:r>
          </a:p>
          <a:p>
            <a:pPr lvl="1"/>
            <a:r>
              <a:rPr lang="en-US" dirty="0" smtClean="0"/>
              <a:t>Promised equal and just laws</a:t>
            </a:r>
          </a:p>
          <a:p>
            <a:endParaRPr lang="en-US" dirty="0"/>
          </a:p>
          <a:p>
            <a:pPr marL="0" indent="0" algn="r">
              <a:buNone/>
            </a:pPr>
            <a:r>
              <a:rPr lang="en-US" sz="1000" dirty="0" smtClean="0">
                <a:solidFill>
                  <a:schemeClr val="accent2"/>
                </a:solidFill>
              </a:rPr>
              <a:t>"</a:t>
            </a:r>
            <a:r>
              <a:rPr lang="en-US" sz="1000" dirty="0">
                <a:solidFill>
                  <a:schemeClr val="accent2"/>
                </a:solidFill>
              </a:rPr>
              <a:t>The Mayflower Compact 1620 cph.3g07155" by Jean Leon Gerome </a:t>
            </a:r>
            <a:r>
              <a:rPr lang="en-US" sz="1000" dirty="0" smtClean="0">
                <a:solidFill>
                  <a:schemeClr val="accent2"/>
                </a:solidFill>
              </a:rPr>
              <a:t>Ferris</a:t>
            </a:r>
            <a:endParaRPr lang="en-US" sz="1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82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of Government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75" y="2598881"/>
            <a:ext cx="4754563" cy="3168363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Representative government</a:t>
            </a:r>
          </a:p>
          <a:p>
            <a:pPr lvl="1"/>
            <a:r>
              <a:rPr lang="en-US" dirty="0" smtClean="0"/>
              <a:t>Elected General Court</a:t>
            </a:r>
          </a:p>
          <a:p>
            <a:pPr lvl="1"/>
            <a:r>
              <a:rPr lang="en-US" dirty="0" smtClean="0"/>
              <a:t>Elected Governor </a:t>
            </a:r>
          </a:p>
          <a:p>
            <a:r>
              <a:rPr lang="en-US" dirty="0" smtClean="0"/>
              <a:t>General Court would also act as judiciary</a:t>
            </a:r>
          </a:p>
          <a:p>
            <a:r>
              <a:rPr lang="en-US" dirty="0" smtClean="0"/>
              <a:t>Technically, no outside control</a:t>
            </a:r>
          </a:p>
        </p:txBody>
      </p:sp>
    </p:spTree>
    <p:extLst>
      <p:ext uri="{BB962C8B-B14F-4D97-AF65-F5344CB8AC3E}">
        <p14:creationId xmlns:p14="http://schemas.microsoft.com/office/powerpoint/2010/main" val="1632390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Layers of Government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681095"/>
              </p:ext>
            </p:extLst>
          </p:nvPr>
        </p:nvGraphicFramePr>
        <p:xfrm>
          <a:off x="838200" y="685800"/>
          <a:ext cx="6711950" cy="5019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5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Examples	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United Nations</a:t>
            </a:r>
          </a:p>
          <a:p>
            <a:r>
              <a:rPr lang="en-US" dirty="0" smtClean="0"/>
              <a:t>NATO</a:t>
            </a:r>
          </a:p>
          <a:p>
            <a:r>
              <a:rPr lang="en-US" dirty="0" smtClean="0"/>
              <a:t>ASEAN</a:t>
            </a:r>
          </a:p>
          <a:p>
            <a:r>
              <a:rPr lang="en-US" dirty="0" smtClean="0"/>
              <a:t>World Bank / IMF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General Purpose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Coordination among nation-states</a:t>
            </a:r>
          </a:p>
          <a:p>
            <a:r>
              <a:rPr lang="en-US" dirty="0" smtClean="0"/>
              <a:t>Usually issue-specific</a:t>
            </a:r>
          </a:p>
          <a:p>
            <a:r>
              <a:rPr lang="en-US" dirty="0" smtClean="0"/>
              <a:t>Talk a lot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Supernational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42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National	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Law-making and policy-setting</a:t>
            </a:r>
          </a:p>
          <a:p>
            <a:r>
              <a:rPr lang="en-US" dirty="0" smtClean="0"/>
              <a:t>National defense</a:t>
            </a:r>
          </a:p>
          <a:p>
            <a:r>
              <a:rPr lang="en-US" dirty="0" smtClean="0"/>
              <a:t>Money printing and coin minting</a:t>
            </a:r>
          </a:p>
          <a:p>
            <a:r>
              <a:rPr lang="en-US" dirty="0" smtClean="0"/>
              <a:t>Foreign policy</a:t>
            </a:r>
          </a:p>
          <a:p>
            <a:r>
              <a:rPr lang="en-US" dirty="0" smtClean="0"/>
              <a:t>Post office</a:t>
            </a:r>
          </a:p>
          <a:p>
            <a:r>
              <a:rPr lang="en-US" dirty="0" smtClean="0"/>
              <a:t>Regulating common goods</a:t>
            </a:r>
          </a:p>
          <a:p>
            <a:pPr lvl="1"/>
            <a:r>
              <a:rPr lang="en-US" dirty="0" smtClean="0"/>
              <a:t>Environment</a:t>
            </a:r>
          </a:p>
          <a:p>
            <a:pPr lvl="1"/>
            <a:r>
              <a:rPr lang="en-US" dirty="0" smtClean="0"/>
              <a:t>Communications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State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Law-making and policy-setting</a:t>
            </a:r>
          </a:p>
          <a:p>
            <a:r>
              <a:rPr lang="en-US" dirty="0" smtClean="0"/>
              <a:t>Education and welfare</a:t>
            </a:r>
          </a:p>
          <a:p>
            <a:r>
              <a:rPr lang="en-US" dirty="0" smtClean="0"/>
              <a:t>Public health</a:t>
            </a:r>
          </a:p>
          <a:p>
            <a:r>
              <a:rPr lang="en-US" dirty="0" smtClean="0"/>
              <a:t>Transport regulation</a:t>
            </a:r>
          </a:p>
          <a:p>
            <a:r>
              <a:rPr lang="en-US" dirty="0" smtClean="0"/>
              <a:t>Regulate public goods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National and State (U.S.)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05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Government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Code-making</a:t>
            </a:r>
          </a:p>
          <a:p>
            <a:r>
              <a:rPr lang="en-US" dirty="0" smtClean="0"/>
              <a:t>Power is granted by the State</a:t>
            </a:r>
          </a:p>
          <a:p>
            <a:r>
              <a:rPr lang="en-US" dirty="0" smtClean="0"/>
              <a:t>Administrative enactment of state authority</a:t>
            </a:r>
          </a:p>
          <a:p>
            <a:pPr lvl="1"/>
            <a:r>
              <a:rPr lang="en-US" dirty="0" smtClean="0"/>
              <a:t>Law enforcement</a:t>
            </a:r>
          </a:p>
          <a:p>
            <a:pPr lvl="1"/>
            <a:r>
              <a:rPr lang="en-US" dirty="0" smtClean="0"/>
              <a:t>Resource utilization</a:t>
            </a:r>
          </a:p>
          <a:p>
            <a:pPr lvl="1"/>
            <a:r>
              <a:rPr lang="en-US" dirty="0" smtClean="0"/>
              <a:t>Environmental services (trash, wastewater)</a:t>
            </a:r>
          </a:p>
          <a:p>
            <a:pPr lvl="1"/>
            <a:r>
              <a:rPr lang="en-US" dirty="0" smtClean="0"/>
              <a:t>Land records</a:t>
            </a:r>
          </a:p>
          <a:p>
            <a:pPr lvl="1"/>
            <a:r>
              <a:rPr lang="en-US" dirty="0" smtClean="0"/>
              <a:t>Planning and zoning</a:t>
            </a:r>
          </a:p>
          <a:p>
            <a:pPr lvl="1"/>
            <a:r>
              <a:rPr lang="en-US" dirty="0" smtClean="0"/>
              <a:t>Birth and death records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endParaRPr lang="en-US" b="1" dirty="0" smtClean="0"/>
          </a:p>
          <a:p>
            <a:pPr algn="ctr"/>
            <a:endParaRPr lang="en-US" b="1" dirty="0"/>
          </a:p>
          <a:p>
            <a:pPr algn="ctr"/>
            <a:r>
              <a:rPr lang="en-US" b="1" dirty="0" smtClean="0"/>
              <a:t>This </a:t>
            </a:r>
            <a:r>
              <a:rPr lang="en-US" b="1" dirty="0"/>
              <a:t>sounds like what we need</a:t>
            </a:r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07578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 to Colonization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" r="501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What does all this mean</a:t>
            </a:r>
          </a:p>
          <a:p>
            <a:endParaRPr lang="en-US" dirty="0"/>
          </a:p>
          <a:p>
            <a:pPr algn="r"/>
            <a:r>
              <a:rPr lang="en-US" sz="1000" dirty="0"/>
              <a:t>By Rick </a:t>
            </a:r>
            <a:r>
              <a:rPr lang="en-US" sz="1000" dirty="0" err="1"/>
              <a:t>Guidice</a:t>
            </a:r>
            <a:r>
              <a:rPr lang="en-US" sz="1000" dirty="0"/>
              <a:t> [Public domain],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434322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Circumstances</a:t>
            </a:r>
          </a:p>
          <a:p>
            <a:pPr lvl="1"/>
            <a:r>
              <a:rPr lang="en-US" dirty="0" smtClean="0"/>
              <a:t>Relatively small, fixed set of people</a:t>
            </a:r>
          </a:p>
          <a:p>
            <a:pPr lvl="1"/>
            <a:r>
              <a:rPr lang="en-US" dirty="0" smtClean="0"/>
              <a:t>Long-term growth expected</a:t>
            </a:r>
          </a:p>
          <a:p>
            <a:pPr lvl="1"/>
            <a:r>
              <a:rPr lang="en-US" dirty="0" smtClean="0"/>
              <a:t>Desire to establish resource-independence</a:t>
            </a:r>
          </a:p>
          <a:p>
            <a:pPr lvl="1"/>
            <a:r>
              <a:rPr lang="en-US" dirty="0" smtClean="0"/>
              <a:t>Earth is, at minimum, 6 light-minutes away</a:t>
            </a:r>
            <a:endParaRPr lang="en-US" dirty="0" smtClean="0"/>
          </a:p>
          <a:p>
            <a:r>
              <a:rPr lang="en-US" dirty="0" smtClean="0"/>
              <a:t>Necessitate </a:t>
            </a:r>
            <a:r>
              <a:rPr lang="en-US" dirty="0"/>
              <a:t>d</a:t>
            </a:r>
            <a:r>
              <a:rPr lang="en-US" dirty="0" smtClean="0"/>
              <a:t>evelopment of local government first</a:t>
            </a:r>
          </a:p>
          <a:p>
            <a:pPr lvl="1"/>
            <a:r>
              <a:rPr lang="en-US" dirty="0" smtClean="0"/>
              <a:t>Planning is essential</a:t>
            </a:r>
          </a:p>
          <a:p>
            <a:pPr lvl="1"/>
            <a:r>
              <a:rPr lang="en-US" dirty="0" smtClean="0"/>
              <a:t>Vital records</a:t>
            </a:r>
          </a:p>
          <a:p>
            <a:pPr lvl="1"/>
            <a:r>
              <a:rPr lang="en-US" dirty="0" smtClean="0"/>
              <a:t>Administrative management</a:t>
            </a:r>
            <a:endParaRPr lang="en-US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93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LEO/Moon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Earth is no more than 3 light-seconds away</a:t>
            </a:r>
          </a:p>
          <a:p>
            <a:pPr lvl="1"/>
            <a:r>
              <a:rPr lang="en-US" dirty="0" smtClean="0"/>
              <a:t>4-day trip</a:t>
            </a:r>
          </a:p>
          <a:p>
            <a:r>
              <a:rPr lang="en-US" dirty="0" smtClean="0"/>
              <a:t>Moon can be administratively managed from Earth</a:t>
            </a:r>
          </a:p>
          <a:p>
            <a:pPr lvl="1"/>
            <a:r>
              <a:rPr lang="en-US" dirty="0" smtClean="0"/>
              <a:t>Obviously, local services must still be provided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Generation Ships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Going away, fast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Colonization Options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2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What have we learned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5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People will establish their government if left to their own devices</a:t>
            </a:r>
          </a:p>
          <a:p>
            <a:pPr lvl="1"/>
            <a:r>
              <a:rPr lang="en-US" dirty="0" smtClean="0"/>
              <a:t>That government will likely resemble a democracy</a:t>
            </a:r>
          </a:p>
          <a:p>
            <a:r>
              <a:rPr lang="en-US" dirty="0" smtClean="0"/>
              <a:t>Different types of settlements will require different types of governance</a:t>
            </a:r>
          </a:p>
          <a:p>
            <a:r>
              <a:rPr lang="en-US" dirty="0" smtClean="0"/>
              <a:t>The overwhelming set of governance concerns resemble local governments</a:t>
            </a:r>
          </a:p>
          <a:p>
            <a:r>
              <a:rPr lang="en-US" dirty="0" smtClean="0"/>
              <a:t>Basic high-touch government is necessary to ensure stability and survival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487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form of government should a colony have</a:t>
            </a:r>
          </a:p>
          <a:p>
            <a:r>
              <a:rPr lang="en-US" dirty="0" smtClean="0"/>
              <a:t>How is that government operate</a:t>
            </a:r>
          </a:p>
          <a:p>
            <a:r>
              <a:rPr lang="en-US" dirty="0" smtClean="0"/>
              <a:t>Is the government established on Earth beforehand</a:t>
            </a:r>
          </a:p>
          <a:p>
            <a:r>
              <a:rPr lang="en-US" dirty="0" smtClean="0"/>
              <a:t>How will that government relate to Earth-bound governments?</a:t>
            </a:r>
          </a:p>
          <a:p>
            <a:pPr lvl="1"/>
            <a:r>
              <a:rPr lang="en-US" dirty="0" smtClean="0"/>
              <a:t>Will it be a client or subunit of some nation-state?</a:t>
            </a:r>
          </a:p>
          <a:p>
            <a:pPr lvl="1"/>
            <a:r>
              <a:rPr lang="en-US" dirty="0" smtClean="0"/>
              <a:t>Will it be a nation-state in it’s own right?</a:t>
            </a:r>
          </a:p>
          <a:p>
            <a:pPr lvl="1"/>
            <a:r>
              <a:rPr lang="en-US" dirty="0" smtClean="0"/>
              <a:t>Will there be an organized transition period?</a:t>
            </a:r>
          </a:p>
          <a:p>
            <a:r>
              <a:rPr lang="en-US" dirty="0" smtClean="0"/>
              <a:t>How will immigration be handled, on both ends?</a:t>
            </a:r>
            <a:endParaRPr lang="en-US" dirty="0"/>
          </a:p>
          <a:p>
            <a:r>
              <a:rPr lang="en-US" dirty="0" smtClean="0"/>
              <a:t>How will different colonies interact with each other?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Decisions to make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10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Immediate Attention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Handling existing landing sites</a:t>
            </a:r>
          </a:p>
          <a:p>
            <a:pPr lvl="1"/>
            <a:r>
              <a:rPr lang="en-US" dirty="0" smtClean="0"/>
              <a:t>Should they be treated as parks or otherwise preserved?</a:t>
            </a:r>
          </a:p>
          <a:p>
            <a:r>
              <a:rPr lang="en-US" dirty="0" smtClean="0"/>
              <a:t>Can a shared communications platform be established?</a:t>
            </a:r>
          </a:p>
          <a:p>
            <a:r>
              <a:rPr lang="en-US" dirty="0" smtClean="0"/>
              <a:t>Can a positioning system, for the benefit of everyone, be established?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Some things need immediate attention.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195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1649</TotalTime>
  <Words>1130</Words>
  <Application>Microsoft Macintosh PowerPoint</Application>
  <PresentationFormat>Widescreen</PresentationFormat>
  <Paragraphs>256</Paragraphs>
  <Slides>31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Calibri</vt:lpstr>
      <vt:lpstr>Rockwell</vt:lpstr>
      <vt:lpstr>Rockwell Condensed</vt:lpstr>
      <vt:lpstr>Rockwell Extra Bold</vt:lpstr>
      <vt:lpstr>Wingdings</vt:lpstr>
      <vt:lpstr>Arial</vt:lpstr>
      <vt:lpstr>Wood Type</vt:lpstr>
      <vt:lpstr>Planning for Martian Polity</vt:lpstr>
      <vt:lpstr>Introduction</vt:lpstr>
      <vt:lpstr>Motivation</vt:lpstr>
      <vt:lpstr>Existing Frameworks</vt:lpstr>
      <vt:lpstr>Overview</vt:lpstr>
      <vt:lpstr>Outer Space Treaty</vt:lpstr>
      <vt:lpstr>Space Liability Convention</vt:lpstr>
      <vt:lpstr>Registration Agreement </vt:lpstr>
      <vt:lpstr>Rescue Agreement</vt:lpstr>
      <vt:lpstr>Moon Treaty</vt:lpstr>
      <vt:lpstr>Historical Analogues</vt:lpstr>
      <vt:lpstr>Iceland</vt:lpstr>
      <vt:lpstr>The Age of Settlement</vt:lpstr>
      <vt:lpstr>Self-Governance: Alþingi</vt:lpstr>
      <vt:lpstr>Jamestown</vt:lpstr>
      <vt:lpstr>Initial Colony in 1607</vt:lpstr>
      <vt:lpstr>After 1618</vt:lpstr>
      <vt:lpstr>Massachusetts</vt:lpstr>
      <vt:lpstr>The Mayflower Compact</vt:lpstr>
      <vt:lpstr>Form of Government</vt:lpstr>
      <vt:lpstr>Layers of Government</vt:lpstr>
      <vt:lpstr>Supernational</vt:lpstr>
      <vt:lpstr>National and State (U.S.)</vt:lpstr>
      <vt:lpstr>Local Government</vt:lpstr>
      <vt:lpstr>Applications to Colonization</vt:lpstr>
      <vt:lpstr>Mars</vt:lpstr>
      <vt:lpstr>Other Colonization Options</vt:lpstr>
      <vt:lpstr>Closing</vt:lpstr>
      <vt:lpstr>Summary of Key Points</vt:lpstr>
      <vt:lpstr>Next Steps</vt:lpstr>
      <vt:lpstr>Immediate Attention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for Martian Polity</dc:title>
  <dc:creator>James Howard</dc:creator>
  <cp:lastModifiedBy>James Howard</cp:lastModifiedBy>
  <cp:revision>29</cp:revision>
  <dcterms:created xsi:type="dcterms:W3CDTF">2015-08-12T01:49:48Z</dcterms:created>
  <dcterms:modified xsi:type="dcterms:W3CDTF">2015-08-14T02:11:41Z</dcterms:modified>
</cp:coreProperties>
</file>