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1" r:id="rId4"/>
  </p:sldMasterIdLst>
  <p:notesMasterIdLst>
    <p:notesMasterId r:id="rId18"/>
  </p:notesMasterIdLst>
  <p:sldIdLst>
    <p:sldId id="258" r:id="rId5"/>
    <p:sldId id="264" r:id="rId6"/>
    <p:sldId id="267" r:id="rId7"/>
    <p:sldId id="268" r:id="rId8"/>
    <p:sldId id="271" r:id="rId9"/>
    <p:sldId id="270" r:id="rId10"/>
    <p:sldId id="272" r:id="rId11"/>
    <p:sldId id="263" r:id="rId12"/>
    <p:sldId id="273" r:id="rId13"/>
    <p:sldId id="275" r:id="rId14"/>
    <p:sldId id="276" r:id="rId15"/>
    <p:sldId id="277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D2F2"/>
    <a:srgbClr val="73A9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04" autoAdjust="0"/>
    <p:restoredTop sz="96405"/>
  </p:normalViewPr>
  <p:slideViewPr>
    <p:cSldViewPr snapToGrid="0" snapToObjects="1" showGuides="1">
      <p:cViewPr varScale="1">
        <p:scale>
          <a:sx n="155" d="100"/>
          <a:sy n="155" d="100"/>
        </p:scale>
        <p:origin x="20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9A375-B218-184B-B243-CB7E0F1616A7}" type="datetimeFigureOut">
              <a:rPr lang="en-US" smtClean="0"/>
              <a:t>2/24/21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5F0F0-3408-9F4A-9B24-898CD7F5D4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00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815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5F0F0-3408-9F4A-9B24-898CD7F5D4E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00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4" y="0"/>
            <a:ext cx="12189624" cy="6856664"/>
          </a:xfrm>
          <a:prstGeom prst="rect">
            <a:avLst/>
          </a:prstGeom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7532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820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5" pos="43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4" y="0"/>
            <a:ext cx="12189624" cy="6856664"/>
          </a:xfrm>
          <a:prstGeom prst="rect">
            <a:avLst/>
          </a:prstGeom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1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5410200" cy="157239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5410200" cy="837532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6858001" y="566530"/>
            <a:ext cx="5334000" cy="5734880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  <p:sp>
        <p:nvSpPr>
          <p:cNvPr id="1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5410200" cy="15723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5410200" cy="83820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6858001" y="570368"/>
            <a:ext cx="5334000" cy="5721790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  <p:sp>
        <p:nvSpPr>
          <p:cNvPr id="9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1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22" name="Rectangle 21"/>
          <p:cNvSpPr/>
          <p:nvPr userDrawn="1"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440288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475" y="3411128"/>
            <a:ext cx="3030109" cy="1982102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44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475" y="3411128"/>
            <a:ext cx="3030108" cy="198210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21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-2370" y="0"/>
            <a:ext cx="4063997" cy="3440287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4061628" y="0"/>
            <a:ext cx="4063996" cy="3440287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3" name="Picture Placeholder 7"/>
          <p:cNvSpPr>
            <a:spLocks noGrp="1"/>
          </p:cNvSpPr>
          <p:nvPr>
            <p:ph type="pic" sz="quarter" idx="17" hasCustomPrompt="1"/>
          </p:nvPr>
        </p:nvSpPr>
        <p:spPr>
          <a:xfrm>
            <a:off x="8125625" y="0"/>
            <a:ext cx="4066376" cy="3440287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475" y="3411128"/>
            <a:ext cx="3030109" cy="1982102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1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21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4063999" cy="3440287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4064000" y="0"/>
            <a:ext cx="4061625" cy="3440287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3" name="Picture Placeholder 7"/>
          <p:cNvSpPr>
            <a:spLocks noGrp="1"/>
          </p:cNvSpPr>
          <p:nvPr>
            <p:ph type="pic" sz="quarter" idx="17" hasCustomPrompt="1"/>
          </p:nvPr>
        </p:nvSpPr>
        <p:spPr>
          <a:xfrm>
            <a:off x="8125625" y="0"/>
            <a:ext cx="4066375" cy="3440287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475" y="3411128"/>
            <a:ext cx="3030108" cy="198210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1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361627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91000" y="1028700"/>
            <a:ext cx="6819900" cy="1482245"/>
          </a:xfrm>
        </p:spPr>
        <p:txBody>
          <a:bodyPr anchor="t">
            <a:norm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</a:t>
            </a:r>
            <a:br>
              <a:rPr lang="en-US" dirty="0"/>
            </a:br>
            <a:r>
              <a:rPr lang="en-US" dirty="0"/>
              <a:t>(recommended for titles that </a:t>
            </a:r>
            <a:br>
              <a:rPr lang="en-US" dirty="0"/>
            </a:br>
            <a:r>
              <a:rPr lang="en-US" dirty="0"/>
              <a:t>are 2-3 lines long)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338" y="532082"/>
            <a:ext cx="3271029" cy="213969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4191000" y="3976706"/>
            <a:ext cx="6819900" cy="2233594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0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dirty="0">
                <a:effectLst/>
                <a:latin typeface="Helvetica" charset="0"/>
              </a:rPr>
              <a:t>Click to add classification text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1" y="2514600"/>
            <a:ext cx="6819900" cy="342899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191000" y="2860102"/>
            <a:ext cx="6819900" cy="790832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5" pos="69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91000" y="1028700"/>
            <a:ext cx="6819900" cy="1485900"/>
          </a:xfrm>
        </p:spPr>
        <p:txBody>
          <a:bodyPr anchor="t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  <a:br>
              <a:rPr lang="en-US" dirty="0"/>
            </a:br>
            <a:r>
              <a:rPr lang="en-US" dirty="0"/>
              <a:t>(recommended for titles that </a:t>
            </a:r>
            <a:br>
              <a:rPr lang="en-US" dirty="0"/>
            </a:br>
            <a:r>
              <a:rPr lang="en-US" dirty="0"/>
              <a:t>are 2-3 lines long)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338" y="532082"/>
            <a:ext cx="3271029" cy="213969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4191000" y="3976706"/>
            <a:ext cx="6819900" cy="2233594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lang="en-US" sz="1000" smtClean="0">
                <a:solidFill>
                  <a:schemeClr val="accent1"/>
                </a:solidFill>
                <a:effectLst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dirty="0">
                <a:effectLst/>
                <a:latin typeface="Helvetica" charset="0"/>
              </a:rPr>
              <a:t>Click to add classification text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1" y="2514601"/>
            <a:ext cx="6819900" cy="35495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191000" y="2869555"/>
            <a:ext cx="6819900" cy="790832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5" pos="69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952500" y="1179514"/>
            <a:ext cx="10287000" cy="503078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2735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485900"/>
            <a:ext cx="10287000" cy="47244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95015"/>
            <a:ext cx="11277600" cy="386085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181100"/>
            <a:ext cx="4953000" cy="41762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286501" y="1181100"/>
            <a:ext cx="4952998" cy="41762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485900"/>
            <a:ext cx="4953000" cy="38714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286501" y="1485900"/>
            <a:ext cx="4952998" cy="38714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 hasCustomPrompt="1"/>
          </p:nvPr>
        </p:nvSpPr>
        <p:spPr>
          <a:xfrm>
            <a:off x="952500" y="1181100"/>
            <a:ext cx="4953000" cy="41767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5" name="Chart Placeholder 8"/>
          <p:cNvSpPr>
            <a:spLocks noGrp="1"/>
          </p:cNvSpPr>
          <p:nvPr>
            <p:ph type="chart" sz="quarter" idx="17" hasCustomPrompt="1"/>
          </p:nvPr>
        </p:nvSpPr>
        <p:spPr>
          <a:xfrm>
            <a:off x="6286501" y="1181100"/>
            <a:ext cx="4953000" cy="41767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602236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chart label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936237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chart label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omparison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/>
          <p:cNvSpPr>
            <a:spLocks noGrp="1"/>
          </p:cNvSpPr>
          <p:nvPr>
            <p:ph type="chart" sz="quarter" idx="16" hasCustomPrompt="1"/>
          </p:nvPr>
        </p:nvSpPr>
        <p:spPr>
          <a:xfrm>
            <a:off x="952500" y="1485900"/>
            <a:ext cx="4953000" cy="38719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5" name="Chart Placeholder 8"/>
          <p:cNvSpPr>
            <a:spLocks noGrp="1"/>
          </p:cNvSpPr>
          <p:nvPr>
            <p:ph type="chart" sz="quarter" idx="17" hasCustomPrompt="1"/>
          </p:nvPr>
        </p:nvSpPr>
        <p:spPr>
          <a:xfrm>
            <a:off x="6286501" y="1485900"/>
            <a:ext cx="4953000" cy="38719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602236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chart label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936237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chart label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3924301"/>
            <a:ext cx="2988364" cy="12573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3619500"/>
            <a:ext cx="2988405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06154" y="3924301"/>
            <a:ext cx="2979692" cy="12573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4606109" y="3619500"/>
            <a:ext cx="297973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8256050" y="3924301"/>
            <a:ext cx="2983450" cy="12573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8257327" y="3619500"/>
            <a:ext cx="298217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277927" y="1181100"/>
            <a:ext cx="0" cy="40005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920948" y="1181100"/>
            <a:ext cx="0" cy="40005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181100"/>
            <a:ext cx="298840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4606105" y="1181100"/>
            <a:ext cx="297973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8257323" y="1181100"/>
            <a:ext cx="298217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76645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Column Featur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4229101"/>
            <a:ext cx="2988364" cy="9525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3924300"/>
            <a:ext cx="2988405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06154" y="4229101"/>
            <a:ext cx="2979692" cy="9525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4606109" y="3924300"/>
            <a:ext cx="297973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8256050" y="4229101"/>
            <a:ext cx="2983450" cy="9525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8257327" y="3924300"/>
            <a:ext cx="298217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277927" y="1485900"/>
            <a:ext cx="0" cy="36957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920948" y="1485900"/>
            <a:ext cx="0" cy="36957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485899"/>
            <a:ext cx="2988409" cy="223113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4606105" y="1485900"/>
            <a:ext cx="297973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8257323" y="1485900"/>
            <a:ext cx="298217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4"/>
            <a:ext cx="10286999" cy="661986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Column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3938459"/>
            <a:ext cx="2301354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1" y="3633658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3592038" y="3938459"/>
            <a:ext cx="2332240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3591980" y="3633658"/>
            <a:ext cx="2332272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6260210" y="3938459"/>
            <a:ext cx="2302372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6262343" y="3633658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18555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3591975" y="1185550"/>
            <a:ext cx="2332275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6262335" y="118555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76645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idx="27" hasCustomPrompt="1"/>
          </p:nvPr>
        </p:nvSpPr>
        <p:spPr>
          <a:xfrm>
            <a:off x="8899761" y="3938459"/>
            <a:ext cx="2338690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8901816" y="3633658"/>
            <a:ext cx="2337688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8901808" y="1185550"/>
            <a:ext cx="2337691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Column Featur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4216231"/>
            <a:ext cx="2301354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1" y="3911430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3592038" y="4216231"/>
            <a:ext cx="2332240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3591980" y="3911430"/>
            <a:ext cx="2332272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6260210" y="4216231"/>
            <a:ext cx="2302372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6262343" y="3911430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48590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3591975" y="1485900"/>
            <a:ext cx="2332275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6262335" y="148590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idx="27" hasCustomPrompt="1"/>
          </p:nvPr>
        </p:nvSpPr>
        <p:spPr>
          <a:xfrm>
            <a:off x="8899761" y="4216231"/>
            <a:ext cx="2338690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8901816" y="3911430"/>
            <a:ext cx="2337688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8901808" y="1485900"/>
            <a:ext cx="2337691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2829927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181100"/>
            <a:ext cx="2456925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3581400" y="28299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3577696" y="11811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4" hasCustomPrompt="1"/>
          </p:nvPr>
        </p:nvSpPr>
        <p:spPr>
          <a:xfrm>
            <a:off x="6181726" y="28299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29" name="Picture Placeholder 8"/>
          <p:cNvSpPr>
            <a:spLocks noGrp="1"/>
          </p:cNvSpPr>
          <p:nvPr>
            <p:ph type="pic" sz="quarter" idx="25" hasCustomPrompt="1"/>
          </p:nvPr>
        </p:nvSpPr>
        <p:spPr>
          <a:xfrm>
            <a:off x="6185429" y="11811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8793163" y="28299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8793163" y="11811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2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952500" y="5183771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952500" y="3543300"/>
            <a:ext cx="2456925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4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3581400" y="51837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5" name="Picture Placeholder 8"/>
          <p:cNvSpPr>
            <a:spLocks noGrp="1"/>
          </p:cNvSpPr>
          <p:nvPr>
            <p:ph type="pic" sz="quarter" idx="31" hasCustomPrompt="1"/>
          </p:nvPr>
        </p:nvSpPr>
        <p:spPr>
          <a:xfrm>
            <a:off x="3577696" y="35433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6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6181726" y="51837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7" name="Picture Placeholder 8"/>
          <p:cNvSpPr>
            <a:spLocks noGrp="1"/>
          </p:cNvSpPr>
          <p:nvPr>
            <p:ph type="pic" sz="quarter" idx="33" hasCustomPrompt="1"/>
          </p:nvPr>
        </p:nvSpPr>
        <p:spPr>
          <a:xfrm>
            <a:off x="6185429" y="35433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8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8793163" y="51837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9" name="Picture Placeholder 8"/>
          <p:cNvSpPr>
            <a:spLocks noGrp="1"/>
          </p:cNvSpPr>
          <p:nvPr>
            <p:ph type="pic" sz="quarter" idx="35" hasCustomPrompt="1"/>
          </p:nvPr>
        </p:nvSpPr>
        <p:spPr>
          <a:xfrm>
            <a:off x="8793163" y="35433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7620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allery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3134727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485900"/>
            <a:ext cx="2456925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3581400" y="31347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3577696" y="14859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4" hasCustomPrompt="1"/>
          </p:nvPr>
        </p:nvSpPr>
        <p:spPr>
          <a:xfrm>
            <a:off x="6181726" y="31347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29" name="Picture Placeholder 8"/>
          <p:cNvSpPr>
            <a:spLocks noGrp="1"/>
          </p:cNvSpPr>
          <p:nvPr>
            <p:ph type="pic" sz="quarter" idx="25" hasCustomPrompt="1"/>
          </p:nvPr>
        </p:nvSpPr>
        <p:spPr>
          <a:xfrm>
            <a:off x="6185429" y="14859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8793163" y="31347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8793163" y="14859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2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952500" y="5488571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952500" y="3848100"/>
            <a:ext cx="2456925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4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3581400" y="54885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5" name="Picture Placeholder 8"/>
          <p:cNvSpPr>
            <a:spLocks noGrp="1"/>
          </p:cNvSpPr>
          <p:nvPr>
            <p:ph type="pic" sz="quarter" idx="31" hasCustomPrompt="1"/>
          </p:nvPr>
        </p:nvSpPr>
        <p:spPr>
          <a:xfrm>
            <a:off x="3577696" y="38481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6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6181726" y="54885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7" name="Picture Placeholder 8"/>
          <p:cNvSpPr>
            <a:spLocks noGrp="1"/>
          </p:cNvSpPr>
          <p:nvPr>
            <p:ph type="pic" sz="quarter" idx="33" hasCustomPrompt="1"/>
          </p:nvPr>
        </p:nvSpPr>
        <p:spPr>
          <a:xfrm>
            <a:off x="6185429" y="38481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8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8793163" y="54885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9" name="Picture Placeholder 8"/>
          <p:cNvSpPr>
            <a:spLocks noGrp="1"/>
          </p:cNvSpPr>
          <p:nvPr>
            <p:ph type="pic" sz="quarter" idx="35" hasCustomPrompt="1"/>
          </p:nvPr>
        </p:nvSpPr>
        <p:spPr>
          <a:xfrm>
            <a:off x="8793163" y="38481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7" y="1459"/>
            <a:ext cx="12187996" cy="64990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81100"/>
            <a:ext cx="9144000" cy="1143000"/>
          </a:xfrm>
        </p:spPr>
        <p:txBody>
          <a:bodyPr anchor="b">
            <a:no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798" y="2437483"/>
            <a:ext cx="9145706" cy="5013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3" pos="432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7" y="1459"/>
            <a:ext cx="12187996" cy="64990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3825129"/>
            <a:ext cx="9144000" cy="59436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800" y="4415475"/>
            <a:ext cx="9144000" cy="49921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-9053"/>
            <a:ext cx="12192000" cy="3441700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4229100" y="0"/>
            <a:ext cx="7962900" cy="6500474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2705100"/>
            <a:ext cx="3225800" cy="28448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paragraph text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419100"/>
            <a:ext cx="3225800" cy="1905000"/>
          </a:xfrm>
        </p:spPr>
        <p:txBody>
          <a:bodyPr anchor="b">
            <a:normAutofit/>
          </a:bodyPr>
          <a:lstStyle>
            <a:lvl1pPr marL="0" indent="0">
              <a:buNone/>
              <a:defRPr sz="3200" baseline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quote or interesting fact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4229100" y="0"/>
            <a:ext cx="7962900" cy="6500474"/>
          </a:xfr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2705100"/>
            <a:ext cx="3225800" cy="28448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paragraph text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419100"/>
            <a:ext cx="3225800" cy="1905000"/>
          </a:xfrm>
        </p:spPr>
        <p:txBody>
          <a:bodyPr anchor="b">
            <a:normAutofit/>
          </a:bodyPr>
          <a:lstStyle>
            <a:lvl1pPr marL="0" indent="0">
              <a:buNone/>
              <a:defRPr sz="3200" baseline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quote or interesting fact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 flipV="1">
            <a:off x="4229100" y="1"/>
            <a:ext cx="0" cy="650047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1"/>
            <a:ext cx="12192000" cy="6500473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8089900" y="5462403"/>
            <a:ext cx="3644900" cy="747897"/>
          </a:xfrm>
          <a:solidFill>
            <a:schemeClr val="bg1"/>
          </a:solidFill>
        </p:spPr>
        <p:txBody>
          <a:bodyPr lIns="365760" tIns="274320" rIns="365760" bIns="274320" anchor="t" anchorCtr="0">
            <a:sp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500488"/>
            <a:ext cx="12192000" cy="3566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6500488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11428508" y="6604000"/>
            <a:ext cx="0" cy="155141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703" y="6565216"/>
            <a:ext cx="212200" cy="228116"/>
          </a:xfrm>
          <a:prstGeom prst="rect">
            <a:avLst/>
          </a:prstGeom>
        </p:spPr>
      </p:pic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Media Placeholder 10"/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video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Chart with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 userDrawn="1">
            <p:ph type="title" hasCustomPrompt="1"/>
          </p:nvPr>
        </p:nvSpPr>
        <p:spPr>
          <a:xfrm>
            <a:off x="457200" y="419100"/>
            <a:ext cx="11277600" cy="389709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6096000" y="887620"/>
            <a:ext cx="0" cy="56124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0" y="3695999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 userDrawn="1"/>
        </p:nvCxnSpPr>
        <p:spPr>
          <a:xfrm>
            <a:off x="0" y="88442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57200" y="1447875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3" name="Text Placeholder 1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457200" y="1154384"/>
            <a:ext cx="5295900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55" name="Text Placeholder 14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457200" y="4295396"/>
            <a:ext cx="5295899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6" name="Text Placeholder 1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57200" y="4001905"/>
            <a:ext cx="5295900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59" name="Text Placeholder 14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6442617" y="1444158"/>
            <a:ext cx="5292183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0" name="Text Placeholder 1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42616" y="1150667"/>
            <a:ext cx="5292183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62" name="Text Placeholder 14"/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6438900" y="4291679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</a:t>
            </a:r>
            <a:r>
              <a:rPr lang="en-US"/>
              <a:t>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Text Placeholder 16"/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6438900" y="3998188"/>
            <a:ext cx="5295900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6096000" y="0"/>
            <a:ext cx="0" cy="64992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325508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57200" y="712591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57200" y="419100"/>
            <a:ext cx="5296821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26" name="Text Placeholder 14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1" y="3880422"/>
            <a:ext cx="5295899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16"/>
          <p:cNvSpPr>
            <a:spLocks noGrp="1"/>
          </p:cNvSpPr>
          <p:nvPr>
            <p:ph type="body" sz="quarter" idx="28" hasCustomPrompt="1"/>
          </p:nvPr>
        </p:nvSpPr>
        <p:spPr>
          <a:xfrm>
            <a:off x="457199" y="3586931"/>
            <a:ext cx="5295901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30" name="Text Placeholder 14"/>
          <p:cNvSpPr>
            <a:spLocks noGrp="1"/>
          </p:cNvSpPr>
          <p:nvPr>
            <p:ph type="body" sz="quarter" idx="31" hasCustomPrompt="1"/>
          </p:nvPr>
        </p:nvSpPr>
        <p:spPr>
          <a:xfrm>
            <a:off x="6438900" y="712591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Text Placeholder 16"/>
          <p:cNvSpPr>
            <a:spLocks noGrp="1"/>
          </p:cNvSpPr>
          <p:nvPr>
            <p:ph type="body" sz="quarter" idx="32" hasCustomPrompt="1"/>
          </p:nvPr>
        </p:nvSpPr>
        <p:spPr>
          <a:xfrm>
            <a:off x="6438901" y="419100"/>
            <a:ext cx="5293104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34" name="Text Placeholder 14"/>
          <p:cNvSpPr>
            <a:spLocks noGrp="1"/>
          </p:cNvSpPr>
          <p:nvPr>
            <p:ph type="body" sz="quarter" idx="35" hasCustomPrompt="1"/>
          </p:nvPr>
        </p:nvSpPr>
        <p:spPr>
          <a:xfrm>
            <a:off x="6438900" y="3876705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Text Placeholder 16"/>
          <p:cNvSpPr>
            <a:spLocks noGrp="1"/>
          </p:cNvSpPr>
          <p:nvPr>
            <p:ph type="body" sz="quarter" idx="36" hasCustomPrompt="1"/>
          </p:nvPr>
        </p:nvSpPr>
        <p:spPr>
          <a:xfrm>
            <a:off x="6438901" y="3583214"/>
            <a:ext cx="5293104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-1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6499798"/>
            <a:ext cx="12192000" cy="356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6500474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19100"/>
            <a:ext cx="11277600" cy="762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1181100"/>
            <a:ext cx="10287000" cy="5029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36810" y="6500814"/>
            <a:ext cx="1371600" cy="357186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2416" y="6500814"/>
            <a:ext cx="3197406" cy="355600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0302" y="6500474"/>
            <a:ext cx="381000" cy="35752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1">
                <a:solidFill>
                  <a:schemeClr val="accent2"/>
                </a:solidFill>
              </a:defRPr>
            </a:lvl1pPr>
          </a:lstStyle>
          <a:p>
            <a:fld id="{4EBCDCBD-78E1-0D41-A999-31B5EBF8E02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1424239" y="6604000"/>
            <a:ext cx="0" cy="15514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6566791"/>
            <a:ext cx="210893" cy="2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4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692" r:id="rId2"/>
    <p:sldLayoutId id="2147483721" r:id="rId3"/>
    <p:sldLayoutId id="2147483693" r:id="rId4"/>
    <p:sldLayoutId id="2147483722" r:id="rId5"/>
    <p:sldLayoutId id="2147483694" r:id="rId6"/>
    <p:sldLayoutId id="2147483723" r:id="rId7"/>
    <p:sldLayoutId id="2147483695" r:id="rId8"/>
    <p:sldLayoutId id="2147483724" r:id="rId9"/>
    <p:sldLayoutId id="2147483717" r:id="rId10"/>
    <p:sldLayoutId id="2147483697" r:id="rId11"/>
    <p:sldLayoutId id="2147483731" r:id="rId12"/>
    <p:sldLayoutId id="2147483701" r:id="rId13"/>
    <p:sldLayoutId id="2147483732" r:id="rId14"/>
    <p:sldLayoutId id="2147483703" r:id="rId15"/>
    <p:sldLayoutId id="2147483733" r:id="rId16"/>
    <p:sldLayoutId id="2147483704" r:id="rId17"/>
    <p:sldLayoutId id="2147483734" r:id="rId18"/>
    <p:sldLayoutId id="2147483730" r:id="rId19"/>
    <p:sldLayoutId id="2147483736" r:id="rId20"/>
    <p:sldLayoutId id="2147483705" r:id="rId21"/>
    <p:sldLayoutId id="2147483735" r:id="rId22"/>
    <p:sldLayoutId id="2147483707" r:id="rId23"/>
    <p:sldLayoutId id="2147483708" r:id="rId24"/>
    <p:sldLayoutId id="2147483709" r:id="rId25"/>
    <p:sldLayoutId id="2147483725" r:id="rId26"/>
    <p:sldLayoutId id="2147483710" r:id="rId27"/>
    <p:sldLayoutId id="2147483711" r:id="rId28"/>
    <p:sldLayoutId id="2147483737" r:id="rId29"/>
    <p:sldLayoutId id="2147483712" r:id="rId30"/>
    <p:sldLayoutId id="2147483713" r:id="rId31"/>
    <p:sldLayoutId id="2147483727" r:id="rId32"/>
    <p:sldLayoutId id="2147483726" r:id="rId33"/>
    <p:sldLayoutId id="2147483720" r:id="rId34"/>
    <p:sldLayoutId id="2147483715" r:id="rId3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0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693738" indent="-246063" algn="l" defTabSz="914400" rtl="0" eaLnBrk="1" latinLnBrk="0" hangingPunct="1">
        <a:lnSpc>
          <a:spcPct val="100000"/>
        </a:lnSpc>
        <a:spcBef>
          <a:spcPts val="400"/>
        </a:spcBef>
        <a:buFont typeface=".AppleSystemUIFont" charset="-120"/>
        <a:buChar char="-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1150938" indent="-228600" algn="l" defTabSz="914400" rtl="0" eaLnBrk="1" latinLnBrk="0" hangingPunct="1">
        <a:lnSpc>
          <a:spcPct val="100000"/>
        </a:lnSpc>
        <a:spcBef>
          <a:spcPts val="400"/>
        </a:spcBef>
        <a:buSzPct val="80000"/>
        <a:buFont typeface="Wingdings" charset="2"/>
        <a:buChar char="§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3pPr>
      <a:lvl4pPr marL="1606550" indent="-227013" algn="l" defTabSz="914400" rtl="0" eaLnBrk="1" latinLnBrk="0" hangingPunct="1">
        <a:lnSpc>
          <a:spcPct val="100000"/>
        </a:lnSpc>
        <a:spcBef>
          <a:spcPts val="400"/>
        </a:spcBef>
        <a:buSzPct val="80000"/>
        <a:buFont typeface="Courier New" charset="0"/>
        <a:buChar char="o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4pPr>
      <a:lvl5pPr marL="2063750" indent="-228600" algn="l" defTabSz="914400" rtl="0" eaLnBrk="1" latinLnBrk="0" hangingPunct="1">
        <a:lnSpc>
          <a:spcPct val="100000"/>
        </a:lnSpc>
        <a:spcBef>
          <a:spcPts val="400"/>
        </a:spcBef>
        <a:buFont typeface="Arial"/>
        <a:buChar char="•"/>
        <a:tabLst/>
        <a:defRPr sz="1600" kern="1200" baseline="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" orient="horz" pos="264" userDrawn="1">
          <p15:clr>
            <a:srgbClr val="F26B43"/>
          </p15:clr>
        </p15:guide>
        <p15:guide id="11" pos="288" userDrawn="1">
          <p15:clr>
            <a:srgbClr val="F26B43"/>
          </p15:clr>
        </p15:guide>
        <p15:guide id="12" pos="7392" userDrawn="1">
          <p15:clr>
            <a:srgbClr val="F26B43"/>
          </p15:clr>
        </p15:guide>
        <p15:guide id="13" orient="horz" pos="3912" userDrawn="1">
          <p15:clr>
            <a:srgbClr val="F26B43"/>
          </p15:clr>
        </p15:guide>
        <p15:guide id="14" pos="3840" userDrawn="1">
          <p15:clr>
            <a:srgbClr val="F26B43"/>
          </p15:clr>
        </p15:guide>
        <p15:guide id="16" orient="horz" pos="936" userDrawn="1">
          <p15:clr>
            <a:srgbClr val="F26B43"/>
          </p15:clr>
        </p15:guide>
        <p15:guide id="17" pos="600" userDrawn="1">
          <p15:clr>
            <a:srgbClr val="F26B43"/>
          </p15:clr>
        </p15:guide>
        <p15:guide id="18" pos="7080" userDrawn="1">
          <p15:clr>
            <a:srgbClr val="F26B43"/>
          </p15:clr>
        </p15:guide>
        <p15:guide id="19" pos="4056" userDrawn="1">
          <p15:clr>
            <a:srgbClr val="F26B43"/>
          </p15:clr>
        </p15:guide>
        <p15:guide id="20" pos="3624" userDrawn="1">
          <p15:clr>
            <a:srgbClr val="F26B43"/>
          </p15:clr>
        </p15:guide>
        <p15:guide id="22" orient="horz" pos="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2324100"/>
            <a:ext cx="10967936" cy="1572399"/>
          </a:xfrm>
        </p:spPr>
        <p:txBody>
          <a:bodyPr/>
          <a:lstStyle/>
          <a:p>
            <a:r>
              <a:rPr lang="en-US" dirty="0"/>
              <a:t>Modeling Demand for Medical Resources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OSG All Hands Meeting 2021—March 1, 2021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James P. Howard, II—Johns Hopkins Applied Physics Laboratory</a:t>
            </a:r>
          </a:p>
          <a:p>
            <a:r>
              <a:rPr lang="en-US" dirty="0"/>
              <a:t>Anna C. </a:t>
            </a:r>
            <a:r>
              <a:rPr lang="en-US" dirty="0" err="1"/>
              <a:t>Svirsko</a:t>
            </a:r>
            <a:r>
              <a:rPr lang="en-US" dirty="0"/>
              <a:t>—United States Naval Academy</a:t>
            </a:r>
          </a:p>
        </p:txBody>
      </p:sp>
    </p:spTree>
    <p:extLst>
      <p:ext uri="{BB962C8B-B14F-4D97-AF65-F5344CB8AC3E}">
        <p14:creationId xmlns:p14="http://schemas.microsoft.com/office/powerpoint/2010/main" val="1507358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CC165-CDAB-9944-8A28-0DE88B312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China and Italy were the two hardest hit countries at the beginning of COVID-19 </a:t>
            </a:r>
          </a:p>
          <a:p>
            <a:pPr lvl="1"/>
            <a:r>
              <a:rPr lang="en-US" dirty="0"/>
              <a:t>Both implemented early lockdowns</a:t>
            </a:r>
          </a:p>
          <a:p>
            <a:r>
              <a:rPr lang="en-US" dirty="0"/>
              <a:t>Italy was running out of hospital beds and ventilators</a:t>
            </a:r>
          </a:p>
          <a:p>
            <a:pPr lvl="1"/>
            <a:r>
              <a:rPr lang="en-US" dirty="0"/>
              <a:t>Hospitals reported new arrivals every 5 minutes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BBF3E1-8907-3945-AFC9-E8CF5F48B3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Flattening the curve protects resources, but the allocation still has to work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B8F81A-8385-A842-AED1-C29D16BBD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Flattening the Curve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4A14CE0-55E9-2344-BF7C-74704EDD6D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Protect the Resources to Protect Us All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96D396E-2B29-8745-844A-D7FE14BC7717}"/>
              </a:ext>
            </a:extLst>
          </p:cNvPr>
          <p:cNvPicPr>
            <a:picLocks noGrp="1" noChangeAspect="1" noChangeArrowheads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86500" y="2267807"/>
            <a:ext cx="4953000" cy="2308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A45731-EC72-5944-86B3-3A5F952E164B}"/>
              </a:ext>
            </a:extLst>
          </p:cNvPr>
          <p:cNvSpPr txBox="1"/>
          <p:nvPr/>
        </p:nvSpPr>
        <p:spPr>
          <a:xfrm>
            <a:off x="8087709" y="4575905"/>
            <a:ext cx="3151790" cy="246221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2">
                    <a:lumMod val="75000"/>
                  </a:schemeClr>
                </a:solidFill>
              </a:rPr>
              <a:t>By </a:t>
            </a:r>
            <a:r>
              <a:rPr lang="en-US" sz="800" dirty="0"/>
              <a:t>Johannes </a:t>
            </a:r>
            <a:r>
              <a:rPr lang="en-US" sz="800" dirty="0" err="1"/>
              <a:t>Kalliauer</a:t>
            </a:r>
            <a:r>
              <a:rPr lang="en-US" sz="800" dirty="0"/>
              <a:t> </a:t>
            </a:r>
            <a:r>
              <a:rPr lang="en-US" sz="800" dirty="0">
                <a:solidFill>
                  <a:schemeClr val="tx2">
                    <a:lumMod val="75000"/>
                  </a:schemeClr>
                </a:solidFill>
              </a:rPr>
              <a:t>via Wikimedia Commons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FA73917-2225-9C44-ACB1-74B591402E1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D8BED4-A69E-FC47-B144-23BF22ECA0B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EE999D3-8DC1-F943-BC3B-9849E4A13E2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764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D73352F-C3D5-0E4C-AEBA-F11ED846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COVID-19 in Maryland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4B04419-D476-9B42-AF1A-39B4C7BB79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Counties in Maryland by Incidence of COVID-19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345084A-020E-5845-A2B7-D03C32F23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Counties in Maryland</a:t>
            </a:r>
            <a:br>
              <a:rPr lang="en-US" dirty="0"/>
            </a:br>
            <a:r>
              <a:rPr lang="en-US" dirty="0"/>
              <a:t>by Number of Hospitals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E146D50-9220-2344-8BD6-659F8547ED7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DD0C74-56B5-724F-AC94-B0CC910DC87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7C9EDA41-2F2B-444B-98B5-0612E166B7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500" y="1972972"/>
            <a:ext cx="4953000" cy="2592969"/>
          </a:xfrm>
          <a:prstGeom prst="rect">
            <a:avLst/>
          </a:prstGeom>
        </p:spPr>
      </p:pic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0CD0F308-7860-7A45-A706-9882139FA9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2500" y="1957465"/>
            <a:ext cx="4953000" cy="2623983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17DA2E8-BEE8-424B-9571-15FFA6E121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491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BAEDC-0C0E-1C4E-B42A-1F493FE8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Prior Public Health Optimization Work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04A4B4C-F70A-584C-B134-C8D3C8AE3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181098"/>
            <a:ext cx="4953000" cy="5257801"/>
          </a:xfrm>
        </p:spPr>
        <p:txBody>
          <a:bodyPr>
            <a:normAutofit/>
          </a:bodyPr>
          <a:lstStyle/>
          <a:p>
            <a:r>
              <a:rPr lang="en-US" dirty="0"/>
              <a:t>Resource Allocation</a:t>
            </a:r>
          </a:p>
          <a:p>
            <a:pPr lvl="1"/>
            <a:r>
              <a:rPr lang="en-US" dirty="0"/>
              <a:t>American Hospital Capacity and Projected Need for COVID-19 Care</a:t>
            </a:r>
          </a:p>
          <a:p>
            <a:pPr lvl="1"/>
            <a:r>
              <a:rPr lang="en-US" dirty="0"/>
              <a:t>Allocation of Intensive Care Unit Beds in Periods of High Demand</a:t>
            </a:r>
          </a:p>
          <a:p>
            <a:pPr lvl="1"/>
            <a:r>
              <a:rPr lang="en-US" dirty="0"/>
              <a:t>COVID-19 Capacity Analysis Tool for Hospitals and EDs</a:t>
            </a:r>
          </a:p>
          <a:p>
            <a:r>
              <a:rPr lang="en-US" dirty="0"/>
              <a:t>Simulation</a:t>
            </a:r>
          </a:p>
          <a:p>
            <a:pPr lvl="1"/>
            <a:r>
              <a:rPr lang="en-US" dirty="0"/>
              <a:t>How Simulation Modelling Can Help Reduce the Impact of COVID-19 </a:t>
            </a:r>
          </a:p>
          <a:p>
            <a:pPr lvl="1"/>
            <a:r>
              <a:rPr lang="en-US" dirty="0"/>
              <a:t>A Nonhomogeneous Agent-Based Simulation Approach to Modeling the Spread of Disease in a Pandemic Outbreak </a:t>
            </a:r>
          </a:p>
          <a:p>
            <a:pPr lvl="1"/>
            <a:r>
              <a:rPr lang="en-US" dirty="0"/>
              <a:t>Locally Informed Simulation to Predict Hospital Capacity Needs During the COVID-19 Pandemic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A7885-9EBC-A641-84C1-022E8D6CCF6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D09F9-C54A-5247-B729-A70ED517344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0812DCE-1309-4241-A168-59C56FF63C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F342C39-C7AC-6844-8A4F-AB1C7534E0B8}"/>
              </a:ext>
            </a:extLst>
          </p:cNvPr>
          <p:cNvPicPr>
            <a:picLocks noGrp="1" noChangeAspect="1" noChangeArrowheads="1"/>
          </p:cNvPicPr>
          <p:nvPr>
            <p:ph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83451" y="1181099"/>
            <a:ext cx="4956048" cy="4178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990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6EF15C24-48BB-464D-B457-31DA139DE188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4DA743-CBFC-9A48-B4EE-D3AC1D58F5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Can we prevent resource shortages from affecting our ability to treat patients?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2495CBD-6EEB-C94D-8E2F-927680E2C9A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The Question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A4F0DB6-F603-5642-8282-DEAB34F3729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B2F892D-3D45-8A4C-B766-353784378D6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52B511-1F8C-6941-9E7F-0334C408AF8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297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BAEDC-0C0E-1C4E-B42A-1F493FE8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Patient Allocation Model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04A4B4C-F70A-584C-B134-C8D3C8AE3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181099"/>
            <a:ext cx="4953000" cy="4178808"/>
          </a:xfrm>
        </p:spPr>
        <p:txBody>
          <a:bodyPr>
            <a:normAutofit/>
          </a:bodyPr>
          <a:lstStyle/>
          <a:p>
            <a:r>
              <a:rPr lang="en-US" dirty="0"/>
              <a:t>Goals </a:t>
            </a:r>
          </a:p>
          <a:p>
            <a:pPr lvl="1"/>
            <a:r>
              <a:rPr lang="en-US" dirty="0"/>
              <a:t>Maximize utilization of hospital beds </a:t>
            </a:r>
          </a:p>
          <a:p>
            <a:pPr lvl="1"/>
            <a:r>
              <a:rPr lang="en-US" dirty="0"/>
              <a:t>Minimize patient travel</a:t>
            </a:r>
          </a:p>
          <a:p>
            <a:pPr lvl="1"/>
            <a:r>
              <a:rPr lang="en-US" dirty="0"/>
              <a:t>Minimize displacement of future patients </a:t>
            </a:r>
          </a:p>
          <a:p>
            <a:r>
              <a:rPr lang="en-US" dirty="0"/>
              <a:t>Decisions </a:t>
            </a:r>
          </a:p>
          <a:p>
            <a:pPr lvl="1"/>
            <a:r>
              <a:rPr lang="en-US" dirty="0"/>
              <a:t>What hospital do we send a patient to? </a:t>
            </a:r>
          </a:p>
          <a:p>
            <a:pPr lvl="1"/>
            <a:r>
              <a:rPr lang="en-US" dirty="0"/>
              <a:t>What penalty do we incur for potentially displacing patients? </a:t>
            </a:r>
          </a:p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Python and </a:t>
            </a:r>
            <a:r>
              <a:rPr lang="en-US" dirty="0" err="1"/>
              <a:t>Pyomo</a:t>
            </a:r>
            <a:endParaRPr lang="en-US" dirty="0"/>
          </a:p>
          <a:p>
            <a:pPr lvl="1"/>
            <a:r>
              <a:rPr lang="en-US" dirty="0"/>
              <a:t>Solvable with CBC, CPLEX, GLPK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A7885-9EBC-A641-84C1-022E8D6CCF6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D09F9-C54A-5247-B729-A70ED517344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0812DCE-1309-4241-A168-59C56FF63C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4">
                <a:extLst>
                  <a:ext uri="{FF2B5EF4-FFF2-40B4-BE49-F238E27FC236}">
                    <a16:creationId xmlns:a16="http://schemas.microsoft.com/office/drawing/2014/main" id="{89DA2E1F-B8C0-0F47-B7BE-2CC8B8B6721A}"/>
                  </a:ext>
                </a:extLst>
              </p:cNvPr>
              <p:cNvGraphicFramePr>
                <a:graphicFrameLocks noGrp="1"/>
              </p:cNvGraphicFramePr>
              <p:nvPr>
                <p:ph idx="13"/>
                <p:extLst>
                  <p:ext uri="{D42A27DB-BD31-4B8C-83A1-F6EECF244321}">
                    <p14:modId xmlns:p14="http://schemas.microsoft.com/office/powerpoint/2010/main" val="3390015672"/>
                  </p:ext>
                </p:extLst>
              </p:nvPr>
            </p:nvGraphicFramePr>
            <p:xfrm>
              <a:off x="5700584" y="1181099"/>
              <a:ext cx="6034215" cy="3163572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746056">
                      <a:extLst>
                        <a:ext uri="{9D8B030D-6E8A-4147-A177-3AD203B41FA5}">
                          <a16:colId xmlns:a16="http://schemas.microsoft.com/office/drawing/2014/main" val="927460298"/>
                        </a:ext>
                      </a:extLst>
                    </a:gridCol>
                    <a:gridCol w="5288159">
                      <a:extLst>
                        <a:ext uri="{9D8B030D-6E8A-4147-A177-3AD203B41FA5}">
                          <a16:colId xmlns:a16="http://schemas.microsoft.com/office/drawing/2014/main" val="1778374966"/>
                        </a:ext>
                      </a:extLst>
                    </a:gridCol>
                  </a:tblGrid>
                  <a:tr h="37033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min</a:t>
                          </a:r>
                          <a:endParaRPr 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smtClean="0"/>
                                      <m:t>𝑗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b="0" smtClean="0"/>
                                        </m:ctrlPr>
                                      </m:sSubPr>
                                      <m:e>
                                        <m:r>
                                          <a:rPr lang="en-US" b="0" smtClean="0"/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 b="0" smtClean="0"/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smtClean="0"/>
                                        </m:ctrlPr>
                                      </m:sSubPr>
                                      <m:e>
                                        <m:r>
                                          <a:rPr lang="en-US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smtClean="0"/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b="0" smtClean="0"/>
                                  <m:t>+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smtClean="0"/>
                                      <m:t>𝑗</m:t>
                                    </m:r>
                                    <m:r>
                                      <a:rPr lang="en-US" b="0" smtClean="0"/>
                                      <m:t>,</m:t>
                                    </m:r>
                                    <m:r>
                                      <a:rPr lang="en-US" b="0" smtClean="0"/>
                                      <m:t>𝑡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b="0" smtClean="0"/>
                                        </m:ctrlPr>
                                      </m:sSubPr>
                                      <m:e>
                                        <m:r>
                                          <a:rPr lang="en-US" b="0" smtClean="0"/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smtClean="0"/>
                                          <m:t>𝑗𝑡</m:t>
                                        </m:r>
                                      </m:sub>
                                    </m:sSub>
                                  </m:e>
                                </m:nary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4107886"/>
                      </a:ext>
                    </a:extLst>
                  </a:tr>
                  <a:tr h="370332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err="1"/>
                            <a:t>s.t.</a:t>
                          </a:r>
                          <a:endParaRPr 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mtClean="0"/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smtClean="0"/>
                                      <m:t>𝑗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 b="0" smtClean="0"/>
                                        </m:ctrlPr>
                                      </m:sSubPr>
                                      <m:e>
                                        <m:r>
                                          <a:rPr lang="en-US" b="0" smtClean="0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smtClean="0"/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b="0" smtClean="0"/>
                                  <m:t>=1 ∀</m:t>
                                </m:r>
                                <m:r>
                                  <a:rPr lang="en-US" b="0" smtClean="0"/>
                                  <m:t>𝑗</m:t>
                                </m:r>
                                <m:r>
                                  <a:rPr lang="en-US" b="0" smtClean="0"/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0106940"/>
                      </a:ext>
                    </a:extLst>
                  </a:tr>
                  <a:tr h="370332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mtClean="0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/>
                                      <m:t>𝑗</m:t>
                                    </m:r>
                                  </m:sub>
                                </m:sSub>
                                <m:r>
                                  <a:rPr lang="en-US"/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/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/>
                                      <m:t>𝑗</m:t>
                                    </m:r>
                                  </m:sub>
                                </m:sSub>
                                <m:r>
                                  <a:rPr lang="en-US"/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/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/>
                                      <m:t>𝑗</m:t>
                                    </m:r>
                                  </m:sub>
                                </m:sSub>
                                <m:r>
                                  <a:rPr lang="en-US"/>
                                  <m:t>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/>
                                    </m:ctrlPr>
                                  </m:naryPr>
                                  <m:sub>
                                    <m:sSup>
                                      <m:sSupPr>
                                        <m:ctrlPr>
                                          <a:rPr lang="en-US"/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/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/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m:rPr>
                                        <m:brk m:alnAt="7"/>
                                      </m:rPr>
                                      <a:rPr lang="en-US"/>
                                      <m:t>≤</m:t>
                                    </m:r>
                                    <m:r>
                                      <a:rPr lang="en-US"/>
                                      <m:t>𝑡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𝑗</m:t>
                                        </m:r>
                                        <m:sSup>
                                          <m:sSupPr>
                                            <m:ctrlPr>
                                              <a:rPr lang="en-US"/>
                                            </m:ctrlPr>
                                          </m:sSupPr>
                                          <m:e>
                                            <m:r>
                                              <a:rPr lang="en-US"/>
                                              <m:t>𝑡</m:t>
                                            </m:r>
                                          </m:e>
                                          <m:sup>
                                            <m:r>
                                              <a:rPr lang="en-US"/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 smtClean="0"/>
                                  <m:t>+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/>
                                    </m:ctrlPr>
                                  </m:naryPr>
                                  <m:sub>
                                    <m:sSup>
                                      <m:sSupPr>
                                        <m:ctrlPr>
                                          <a:rPr lang="en-US"/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/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US"/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m:rPr>
                                        <m:brk m:alnAt="7"/>
                                      </m:rPr>
                                      <a:rPr lang="en-US"/>
                                      <m:t>≤</m:t>
                                    </m:r>
                                    <m:r>
                                      <a:rPr lang="en-US"/>
                                      <m:t>𝑡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en-US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𝑑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𝑗</m:t>
                                        </m:r>
                                        <m:sSup>
                                          <m:sSupPr>
                                            <m:ctrlPr>
                                              <a:rPr lang="en-US"/>
                                            </m:ctrlPr>
                                          </m:sSupPr>
                                          <m:e>
                                            <m:r>
                                              <a:rPr lang="en-US"/>
                                              <m:t>𝑡</m:t>
                                            </m:r>
                                          </m:e>
                                          <m:sup>
                                            <m:r>
                                              <a:rPr lang="en-US"/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/>
                                        </m:ctrlPr>
                                      </m:sSubPr>
                                      <m:e>
                                        <m:r>
                                          <a:rPr lang="en-US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/>
                                          <m:t>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en-US"/>
                                  <m:t>+</m:t>
                                </m:r>
                                <m:sSub>
                                  <m:sSubPr>
                                    <m:ctrlPr>
                                      <a:rPr lang="en-US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/>
                                      <m:t>𝑗𝑡</m:t>
                                    </m:r>
                                  </m:sub>
                                </m:sSub>
                                <m:r>
                                  <a:rPr lang="en-US" b="0" smtClean="0"/>
                                  <m:t> ∀</m:t>
                                </m:r>
                                <m:r>
                                  <a:rPr lang="en-US" b="0" smtClean="0"/>
                                  <m:t>𝑗</m:t>
                                </m:r>
                                <m:r>
                                  <a:rPr lang="en-US" b="0" smtClean="0"/>
                                  <m:t>, </m:t>
                                </m:r>
                                <m:r>
                                  <a:rPr lang="en-US" b="0" smtClean="0"/>
                                  <m:t>𝑡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9133326"/>
                      </a:ext>
                    </a:extLst>
                  </a:tr>
                  <a:tr h="3703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smtClean="0"/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smtClean="0"/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smtClean="0"/>
                                      <m:t>𝑗</m:t>
                                    </m:r>
                                  </m:sub>
                                </m:sSub>
                                <m:r>
                                  <a:rPr lang="en-US" b="0" smtClean="0"/>
                                  <m:t>∈{0,1}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7442745"/>
                      </a:ext>
                    </a:extLst>
                  </a:tr>
                  <a:tr h="3703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smtClean="0"/>
                                    </m:ctrlPr>
                                  </m:sSubPr>
                                  <m:e>
                                    <m:r>
                                      <a:rPr lang="en-US" b="0" smtClean="0"/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smtClean="0"/>
                                      <m:t>𝑗𝑡</m:t>
                                    </m:r>
                                  </m:sub>
                                </m:sSub>
                                <m:r>
                                  <a:rPr lang="en-US" b="0" smtClean="0"/>
                                  <m:t>≥0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553977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4">
                <a:extLst>
                  <a:ext uri="{FF2B5EF4-FFF2-40B4-BE49-F238E27FC236}">
                    <a16:creationId xmlns:a16="http://schemas.microsoft.com/office/drawing/2014/main" id="{89DA2E1F-B8C0-0F47-B7BE-2CC8B8B6721A}"/>
                  </a:ext>
                </a:extLst>
              </p:cNvPr>
              <p:cNvGraphicFramePr>
                <a:graphicFrameLocks noGrp="1"/>
              </p:cNvGraphicFramePr>
              <p:nvPr>
                <p:ph idx="13"/>
                <p:extLst>
                  <p:ext uri="{D42A27DB-BD31-4B8C-83A1-F6EECF244321}">
                    <p14:modId xmlns:p14="http://schemas.microsoft.com/office/powerpoint/2010/main" val="3390015672"/>
                  </p:ext>
                </p:extLst>
              </p:nvPr>
            </p:nvGraphicFramePr>
            <p:xfrm>
              <a:off x="5700584" y="1181099"/>
              <a:ext cx="6034215" cy="3163572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746056">
                      <a:extLst>
                        <a:ext uri="{9D8B030D-6E8A-4147-A177-3AD203B41FA5}">
                          <a16:colId xmlns:a16="http://schemas.microsoft.com/office/drawing/2014/main" val="927460298"/>
                        </a:ext>
                      </a:extLst>
                    </a:gridCol>
                    <a:gridCol w="5288159">
                      <a:extLst>
                        <a:ext uri="{9D8B030D-6E8A-4147-A177-3AD203B41FA5}">
                          <a16:colId xmlns:a16="http://schemas.microsoft.com/office/drawing/2014/main" val="1778374966"/>
                        </a:ext>
                      </a:extLst>
                    </a:gridCol>
                  </a:tblGrid>
                  <a:tr h="79203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/>
                            <a:t>min</a:t>
                          </a:r>
                          <a:endParaRPr 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49" t="-117460" r="-240" b="-3603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4107886"/>
                      </a:ext>
                    </a:extLst>
                  </a:tr>
                  <a:tr h="792036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dirty="0" err="1"/>
                            <a:t>s.t.</a:t>
                          </a:r>
                          <a:endParaRPr lang="en-US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49" t="-217460" r="-240" b="-2603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0106940"/>
                      </a:ext>
                    </a:extLst>
                  </a:tr>
                  <a:tr h="796036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49" t="-317460" r="-240" b="-1603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39133326"/>
                      </a:ext>
                    </a:extLst>
                  </a:tr>
                  <a:tr h="3917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49" t="-848387" r="-240" b="-225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442745"/>
                      </a:ext>
                    </a:extLst>
                  </a:tr>
                  <a:tr h="3917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4149" t="-948387" r="-240" b="-1258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53977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9193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BAEDC-0C0E-1C4E-B42A-1F493FE8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Simulating the Epidemic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04A4B4C-F70A-584C-B134-C8D3C8AE3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Hospital</a:t>
            </a:r>
          </a:p>
          <a:p>
            <a:pPr lvl="1"/>
            <a:r>
              <a:rPr lang="en-US" dirty="0"/>
              <a:t>Each hospital in Maryland with ICU beds</a:t>
            </a:r>
          </a:p>
          <a:p>
            <a:pPr lvl="1"/>
            <a:r>
              <a:rPr lang="en-US" dirty="0"/>
              <a:t>Count of ICU beds associated</a:t>
            </a:r>
          </a:p>
          <a:p>
            <a:r>
              <a:rPr lang="en-US" dirty="0"/>
              <a:t>Population</a:t>
            </a:r>
          </a:p>
          <a:p>
            <a:pPr lvl="1"/>
            <a:r>
              <a:rPr lang="en-US" dirty="0"/>
              <a:t>Population taken at level of census tract</a:t>
            </a:r>
          </a:p>
          <a:p>
            <a:r>
              <a:rPr lang="en-US" dirty="0"/>
              <a:t>Two hospital assignment policies:</a:t>
            </a:r>
          </a:p>
          <a:p>
            <a:pPr lvl="1"/>
            <a:r>
              <a:rPr lang="en-US" dirty="0"/>
              <a:t>Go to closest hospital</a:t>
            </a:r>
          </a:p>
          <a:p>
            <a:pPr lvl="1"/>
            <a:r>
              <a:rPr lang="en-US" dirty="0"/>
              <a:t>Allow LP to solve for “best” hospital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2EDDDC-A88B-4B41-8C24-FB2F6DBA88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Goal is to evaluate policies against each other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AFD2D0-5342-3D4F-9111-0F5596CB443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Discrete event simulation (DES)</a:t>
            </a:r>
          </a:p>
          <a:p>
            <a:pPr lvl="1"/>
            <a:r>
              <a:rPr lang="en-US" dirty="0"/>
              <a:t>Used Python and </a:t>
            </a:r>
            <a:r>
              <a:rPr lang="en-US" dirty="0" err="1"/>
              <a:t>SimPy</a:t>
            </a:r>
            <a:endParaRPr lang="en-US" dirty="0"/>
          </a:p>
          <a:p>
            <a:r>
              <a:rPr lang="en-US" dirty="0"/>
              <a:t>Hospitals are key resource in simulation</a:t>
            </a:r>
          </a:p>
          <a:p>
            <a:pPr lvl="1"/>
            <a:r>
              <a:rPr lang="en-US" dirty="0"/>
              <a:t>Time in ICU Weibull scaled by user parameter</a:t>
            </a:r>
          </a:p>
          <a:p>
            <a:r>
              <a:rPr lang="en-US" dirty="0"/>
              <a:t>Patients generated at random intervals</a:t>
            </a:r>
          </a:p>
          <a:p>
            <a:pPr lvl="1"/>
            <a:r>
              <a:rPr lang="en-US" dirty="0"/>
              <a:t>Time interval exponential with user parameter</a:t>
            </a:r>
          </a:p>
          <a:p>
            <a:pPr lvl="1"/>
            <a:r>
              <a:rPr lang="en-US" dirty="0"/>
              <a:t>Tract selection weighted by population</a:t>
            </a:r>
          </a:p>
          <a:p>
            <a:r>
              <a:rPr lang="en-US" dirty="0"/>
              <a:t>Metrics:</a:t>
            </a:r>
          </a:p>
          <a:p>
            <a:pPr lvl="1"/>
            <a:r>
              <a:rPr lang="en-US" dirty="0"/>
              <a:t>Distance Travelled</a:t>
            </a:r>
          </a:p>
          <a:p>
            <a:pPr lvl="1"/>
            <a:r>
              <a:rPr lang="en-US" dirty="0"/>
              <a:t>Number of Patients Displaced</a:t>
            </a:r>
          </a:p>
          <a:p>
            <a:pPr lvl="1"/>
            <a:r>
              <a:rPr lang="en-US" dirty="0"/>
              <a:t>Wait Time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A7885-9EBC-A641-84C1-022E8D6CCF6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D09F9-C54A-5247-B729-A70ED517344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0812DCE-1309-4241-A168-59C56FF63C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375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OSG Helped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Monte Carlo simulation</a:t>
            </a:r>
          </a:p>
          <a:p>
            <a:pPr lvl="1"/>
            <a:r>
              <a:rPr lang="en-US" dirty="0"/>
              <a:t>Requires many runs</a:t>
            </a:r>
          </a:p>
          <a:p>
            <a:pPr lvl="1"/>
            <a:r>
              <a:rPr lang="en-US" dirty="0"/>
              <a:t>All runs are independent of each other</a:t>
            </a:r>
          </a:p>
          <a:p>
            <a:pPr lvl="1"/>
            <a:r>
              <a:rPr lang="en-US" dirty="0"/>
              <a:t>Perfect HTC problem</a:t>
            </a:r>
          </a:p>
          <a:p>
            <a:pPr lvl="1"/>
            <a:r>
              <a:rPr lang="en-US" dirty="0"/>
              <a:t>OSG made for HTC</a:t>
            </a:r>
          </a:p>
          <a:p>
            <a:r>
              <a:rPr lang="en-US" dirty="0"/>
              <a:t>1600 runs for each policy made</a:t>
            </a:r>
          </a:p>
          <a:p>
            <a:pPr lvl="1"/>
            <a:r>
              <a:rPr lang="en-US" dirty="0"/>
              <a:t>Run may take multiple hours</a:t>
            </a:r>
          </a:p>
          <a:p>
            <a:pPr lvl="1"/>
            <a:r>
              <a:rPr lang="en-US" dirty="0"/>
              <a:t>Just need to capture metrics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B69784-B3C4-F842-AA81-E3D1B2DBF6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0619B46-3DE6-4D4A-AFF1-4E51C38EF6D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Python worked well</a:t>
            </a:r>
          </a:p>
          <a:p>
            <a:pPr lvl="1"/>
            <a:r>
              <a:rPr lang="en-US" dirty="0"/>
              <a:t>Used </a:t>
            </a:r>
            <a:r>
              <a:rPr lang="en-US" dirty="0" err="1"/>
              <a:t>virtualenv</a:t>
            </a:r>
            <a:r>
              <a:rPr lang="en-US" dirty="0"/>
              <a:t> per OSG documentation</a:t>
            </a:r>
          </a:p>
          <a:p>
            <a:pPr lvl="1"/>
            <a:r>
              <a:rPr lang="en-US" dirty="0"/>
              <a:t>All required packages added to the </a:t>
            </a:r>
            <a:r>
              <a:rPr lang="en-US" dirty="0" err="1"/>
              <a:t>venv</a:t>
            </a:r>
            <a:endParaRPr lang="en-US" dirty="0"/>
          </a:p>
          <a:p>
            <a:pPr lvl="1"/>
            <a:r>
              <a:rPr lang="en-US" dirty="0"/>
              <a:t>Added compiled copy of </a:t>
            </a:r>
            <a:r>
              <a:rPr lang="en-US" dirty="0" err="1"/>
              <a:t>glpk</a:t>
            </a:r>
            <a:r>
              <a:rPr lang="en-US" dirty="0"/>
              <a:t> to </a:t>
            </a:r>
            <a:r>
              <a:rPr lang="en-US" dirty="0" err="1"/>
              <a:t>venv</a:t>
            </a:r>
            <a:endParaRPr lang="en-US" dirty="0"/>
          </a:p>
          <a:p>
            <a:pPr lvl="2"/>
            <a:r>
              <a:rPr lang="en-US" dirty="0"/>
              <a:t>Felt shady but necessary for </a:t>
            </a:r>
            <a:r>
              <a:rPr lang="en-US" dirty="0" err="1"/>
              <a:t>Pyomo</a:t>
            </a:r>
            <a:endParaRPr lang="en-US" dirty="0"/>
          </a:p>
          <a:p>
            <a:pPr lvl="1"/>
            <a:r>
              <a:rPr lang="en-US" dirty="0"/>
              <a:t>CSV files with patient stats written</a:t>
            </a:r>
          </a:p>
          <a:p>
            <a:pPr lvl="1"/>
            <a:r>
              <a:rPr lang="en-US" dirty="0"/>
              <a:t>Logfiles via </a:t>
            </a:r>
            <a:r>
              <a:rPr lang="en-US" dirty="0" err="1"/>
              <a:t>spdlog</a:t>
            </a:r>
            <a:r>
              <a:rPr lang="en-US" dirty="0"/>
              <a:t> generated</a:t>
            </a:r>
          </a:p>
          <a:p>
            <a:pPr lvl="1"/>
            <a:r>
              <a:rPr lang="en-US" dirty="0"/>
              <a:t>Results turned to OSG submit node</a:t>
            </a:r>
          </a:p>
          <a:p>
            <a:pPr lvl="2"/>
            <a:r>
              <a:rPr lang="en-US" dirty="0"/>
              <a:t>Processed stats in R</a:t>
            </a:r>
          </a:p>
          <a:p>
            <a:pPr lvl="2"/>
            <a:r>
              <a:rPr lang="en-US" dirty="0"/>
              <a:t>Logs provided info to answer questions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0A9B5-EE13-2B47-8EC5-BD7CBB8779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40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46720-0722-E14F-87E3-28884582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Travelled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55D4E3A-44F8-BF4B-A373-0725B9B14B5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74B23A3-30BE-564A-B878-2713C134BE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28AFEF-22B5-844E-B5A5-3BD394F8B4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B7A3350A-ACDE-2B49-BDF2-9425CA25D50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020131" y="1179513"/>
            <a:ext cx="8151738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39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E9AA-7139-404E-ADEE-083A2B6E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Waiting Time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DD58C-F97E-A744-A0E1-DB311607192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DFE0F-21F7-454D-B3BC-3819342241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C3D11-6B09-F34F-8FB4-9F9D8B3AC0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006D7B9B-6BBD-6741-A360-1B4EB124E3F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020131" y="1179513"/>
            <a:ext cx="8151738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59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465C5-3459-D247-AA46-D0F79F426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Wait Times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793CB-AD0F-3C4E-917E-553F5DE1F5F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9754E-0D82-524F-B789-ACC4C2F69B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6F806-0CC7-C24F-A782-842B6F44413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7A4C1E74-853F-A84C-9B44-D5634941005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020131" y="1179513"/>
            <a:ext cx="8151738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69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038A-0C9F-0140-98DD-61C82AF6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61E1B-D62D-9847-A232-3C5D87FDD3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Simulation Model </a:t>
            </a:r>
          </a:p>
          <a:p>
            <a:pPr lvl="1"/>
            <a:r>
              <a:rPr lang="en-US" dirty="0"/>
              <a:t>Fine tune parameters to generate patients more accurately</a:t>
            </a:r>
          </a:p>
          <a:p>
            <a:pPr lvl="1"/>
            <a:r>
              <a:rPr lang="en-US" dirty="0"/>
              <a:t>Working to acquire patient data to generate patients in simulation as actual COVID-19 epidemic</a:t>
            </a:r>
          </a:p>
          <a:p>
            <a:r>
              <a:rPr lang="en-US" dirty="0"/>
              <a:t>Determine coefficients for the objective function </a:t>
            </a:r>
          </a:p>
          <a:p>
            <a:pPr lvl="1"/>
            <a:r>
              <a:rPr lang="en-US" dirty="0"/>
              <a:t>Distance to the nearest hospital is weighted the same as the penalty</a:t>
            </a:r>
          </a:p>
          <a:p>
            <a:pPr lvl="1"/>
            <a:r>
              <a:rPr lang="en-US" dirty="0"/>
              <a:t>We assume that the penalty is the same for each day</a:t>
            </a:r>
          </a:p>
          <a:p>
            <a:pPr lvl="1"/>
            <a:r>
              <a:rPr lang="en-US" dirty="0"/>
              <a:t>Adjust the coefficient function to more accurately represent the tradeoff between waiting and travelling</a:t>
            </a:r>
          </a:p>
          <a:p>
            <a:r>
              <a:rPr lang="en-US" dirty="0"/>
              <a:t>Policies </a:t>
            </a:r>
          </a:p>
          <a:p>
            <a:pPr lvl="1"/>
            <a:r>
              <a:rPr lang="en-US" dirty="0"/>
              <a:t>Send patients to the closest hospital with an open bed</a:t>
            </a:r>
          </a:p>
          <a:p>
            <a:r>
              <a:rPr lang="en-US" dirty="0"/>
              <a:t>Metrics </a:t>
            </a:r>
          </a:p>
          <a:p>
            <a:pPr lvl="1"/>
            <a:r>
              <a:rPr lang="en-US" dirty="0"/>
              <a:t>Bed Utilization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7C963-D130-1044-8F6D-76FE804FBE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10420-3FD6-F443-B064-17893912BA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02DD6-9B26-7B4C-8D79-7C3F13DD8B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458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078D5-5DFD-C548-9CF7-8D80EEFF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March 1, 2021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13C94-A420-7B42-817A-A3D2BAE34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Modeling Demand for Medical Resources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31823-92ED-5E49-A06C-1DA2FD0E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CDCBD-78E1-0D41-A999-31B5EBF8E02C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750389"/>
      </p:ext>
    </p:extLst>
  </p:cSld>
  <p:clrMapOvr>
    <a:masterClrMapping/>
  </p:clrMapOvr>
</p:sld>
</file>

<file path=ppt/theme/theme1.xml><?xml version="1.0" encoding="utf-8"?>
<a:theme xmlns:a="http://schemas.openxmlformats.org/drawingml/2006/main" name="APL-PowerPoint-Theme_light">
  <a:themeElements>
    <a:clrScheme name="Custom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2C73"/>
      </a:accent1>
      <a:accent2>
        <a:srgbClr val="3E8EDE"/>
      </a:accent2>
      <a:accent3>
        <a:srgbClr val="74AA50"/>
      </a:accent3>
      <a:accent4>
        <a:srgbClr val="D2D755"/>
      </a:accent4>
      <a:accent5>
        <a:srgbClr val="FF9E16"/>
      </a:accent5>
      <a:accent6>
        <a:srgbClr val="E03C30"/>
      </a:accent6>
      <a:hlink>
        <a:srgbClr val="0537FF"/>
      </a:hlink>
      <a:folHlink>
        <a:srgbClr val="953A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rmAutofit/>
      </a:bodyPr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>
          <a:defRPr sz="2000" dirty="0" err="1" smtClean="0">
            <a:solidFill>
              <a:schemeClr val="tx2">
                <a:lumMod val="7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ded-Template_Light-Theme_16x9" id="{5701C006-0185-F640-8FF7-3E3E2E175320}" vid="{DE6EC2A9-9F60-0D49-9F93-4CA4E8485A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IconOverlay xmlns="http://schemas.microsoft.com/sharepoint/v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57BFD2CB1E744298C1AF8AA7379FF3" ma:contentTypeVersion="2" ma:contentTypeDescription="Create a new document." ma:contentTypeScope="" ma:versionID="7dc69b7d5cdc30166cb3b33179ded647">
  <xsd:schema xmlns:xsd="http://www.w3.org/2001/XMLSchema" xmlns:xs="http://www.w3.org/2001/XMLSchema" xmlns:p="http://schemas.microsoft.com/office/2006/metadata/properties" xmlns:ns1="http://schemas.microsoft.com/sharepoint/v3" xmlns:ns2="http://schemas.microsoft.com/sharepoint/v4" targetNamespace="http://schemas.microsoft.com/office/2006/metadata/properties" ma:root="true" ma:fieldsID="8b1f32b3baab200f1a8fb7d5950201f6" ns1:_="" ns2:_="">
    <xsd:import namespace="http://schemas.microsoft.com/sharepoint/v3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0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1FBB5A-DA9D-44A7-95FF-C9AE2A81012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microsoft.com/sharepoint/v4"/>
  </ds:schemaRefs>
</ds:datastoreItem>
</file>

<file path=customXml/itemProps2.xml><?xml version="1.0" encoding="utf-8"?>
<ds:datastoreItem xmlns:ds="http://schemas.openxmlformats.org/officeDocument/2006/customXml" ds:itemID="{413D6981-20AC-4314-8F0B-588AB5E283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359086-6BA5-492A-BA85-B568B60595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APL-PowerPoint-Theme_light</Template>
  <TotalTime>77</TotalTime>
  <Words>699</Words>
  <Application>Microsoft Macintosh PowerPoint</Application>
  <PresentationFormat>Widescreen</PresentationFormat>
  <Paragraphs>138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.AppleSystemUIFont</vt:lpstr>
      <vt:lpstr>Arial</vt:lpstr>
      <vt:lpstr>Calibri</vt:lpstr>
      <vt:lpstr>Courier New</vt:lpstr>
      <vt:lpstr>Helvetica</vt:lpstr>
      <vt:lpstr>Wingdings</vt:lpstr>
      <vt:lpstr>APL-PowerPoint-Theme_light</vt:lpstr>
      <vt:lpstr>Modeling Demand for Medical Resources</vt:lpstr>
      <vt:lpstr>Flattening the Curve</vt:lpstr>
      <vt:lpstr>COVID-19 in Maryland</vt:lpstr>
      <vt:lpstr>Prior Public Health Optimization Work</vt:lpstr>
      <vt:lpstr>PowerPoint Presentation</vt:lpstr>
      <vt:lpstr>Patient Allocation Model</vt:lpstr>
      <vt:lpstr>Simulating the Epidemic</vt:lpstr>
      <vt:lpstr>How OSG Helped</vt:lpstr>
      <vt:lpstr>Distance Travelled</vt:lpstr>
      <vt:lpstr>Waiting Time</vt:lpstr>
      <vt:lpstr>Positive Wait Times</vt:lpstr>
      <vt:lpstr>Limitations and Future Directions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Demand for Medical Resources</dc:title>
  <dc:subject/>
  <dc:creator>James P. Howard, II</dc:creator>
  <cp:keywords/>
  <dc:description>Version 1.0</dc:description>
  <cp:lastModifiedBy>James P. Howard, II</cp:lastModifiedBy>
  <cp:revision>3</cp:revision>
  <cp:lastPrinted>2017-08-24T18:44:08Z</cp:lastPrinted>
  <dcterms:created xsi:type="dcterms:W3CDTF">2021-02-24T15:43:53Z</dcterms:created>
  <dcterms:modified xsi:type="dcterms:W3CDTF">2021-02-24T17:01:28Z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0x0101009757BFD2CB1E744298C1AF8AA7379FF3</vt:lpwstr>
  </property>
</Properties>
</file>